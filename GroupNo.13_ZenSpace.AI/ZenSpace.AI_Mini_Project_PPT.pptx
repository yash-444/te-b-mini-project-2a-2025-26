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6" r:id="rId1"/>
  </p:sldMasterIdLst>
  <p:notesMasterIdLst>
    <p:notesMasterId r:id="rId29"/>
  </p:notesMasterIdLst>
  <p:sldIdLst>
    <p:sldId id="256" r:id="rId2"/>
    <p:sldId id="257" r:id="rId3"/>
    <p:sldId id="269" r:id="rId4"/>
    <p:sldId id="258" r:id="rId5"/>
    <p:sldId id="270" r:id="rId6"/>
    <p:sldId id="271" r:id="rId7"/>
    <p:sldId id="266" r:id="rId8"/>
    <p:sldId id="272" r:id="rId9"/>
    <p:sldId id="273" r:id="rId10"/>
    <p:sldId id="261" r:id="rId11"/>
    <p:sldId id="267" r:id="rId12"/>
    <p:sldId id="262" r:id="rId13"/>
    <p:sldId id="263" r:id="rId14"/>
    <p:sldId id="264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65" r:id="rId26"/>
    <p:sldId id="268" r:id="rId27"/>
    <p:sldId id="260" r:id="rId28"/>
  </p:sldIdLst>
  <p:sldSz cx="10080625" cy="7559675"/>
  <p:notesSz cx="7559675" cy="106918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632" autoAdjust="0"/>
  </p:normalViewPr>
  <p:slideViewPr>
    <p:cSldViewPr>
      <p:cViewPr>
        <p:scale>
          <a:sx n="100" d="100"/>
          <a:sy n="100" d="100"/>
        </p:scale>
        <p:origin x="653" y="-37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>
            <a:extLst>
              <a:ext uri="{FF2B5EF4-FFF2-40B4-BE49-F238E27FC236}">
                <a16:creationId xmlns:a16="http://schemas.microsoft.com/office/drawing/2014/main" id="{E5CA2AF4-663A-A896-1F87-2370B9F9165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15900" y="812800"/>
            <a:ext cx="7126288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63BDEF3-7ADF-38D4-C5C3-8B8EB3E77877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6FA7C2F-3385-EBEB-3CCF-1EFE09FAC897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C5C3039-AA3C-F20F-BE8C-85DF13699E40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40D6E28-3851-C521-4CF0-E5DED0780E40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6E412E87-86BA-8761-9A22-BF62027E143C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fld id="{60663A5E-FD9D-4F12-A58F-795069306306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>
            <a:extLst>
              <a:ext uri="{FF2B5EF4-FFF2-40B4-BE49-F238E27FC236}">
                <a16:creationId xmlns:a16="http://schemas.microsoft.com/office/drawing/2014/main" id="{5C6EF2FC-304E-67AD-F4AC-F4CE4D3B9FC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4BD42C-937B-4799-8127-0FB4C43E8276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IN" altLang="en-US" sz="1400"/>
          </a:p>
        </p:txBody>
      </p:sp>
      <p:sp>
        <p:nvSpPr>
          <p:cNvPr id="7171" name="Rectangle 1">
            <a:extLst>
              <a:ext uri="{FF2B5EF4-FFF2-40B4-BE49-F238E27FC236}">
                <a16:creationId xmlns:a16="http://schemas.microsoft.com/office/drawing/2014/main" id="{5FA8E629-2462-DB58-24BD-3FEC09E8AC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8731D74E-2E02-F87F-60F3-E46C6125BF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A97E5A46-B252-3A1A-696A-54C9A1CF7A4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52479B1-D9FF-4D8A-9FA0-7F853F19F406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IN" altLang="en-US" sz="1400"/>
          </a:p>
        </p:txBody>
      </p:sp>
      <p:sp>
        <p:nvSpPr>
          <p:cNvPr id="9219" name="Rectangle 1">
            <a:extLst>
              <a:ext uri="{FF2B5EF4-FFF2-40B4-BE49-F238E27FC236}">
                <a16:creationId xmlns:a16="http://schemas.microsoft.com/office/drawing/2014/main" id="{C2AA059D-6564-2028-9376-92FB96DF36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15900" y="812800"/>
            <a:ext cx="7127875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BFD364C-2178-1622-7FA8-8D85ECAFB5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6">
            <a:extLst>
              <a:ext uri="{FF2B5EF4-FFF2-40B4-BE49-F238E27FC236}">
                <a16:creationId xmlns:a16="http://schemas.microsoft.com/office/drawing/2014/main" id="{A68A08D8-48EE-4092-2AC5-47F867D23860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5AF4F70-656E-47AA-A894-C7FC7B4191BF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IN" altLang="en-US" sz="1400"/>
          </a:p>
        </p:txBody>
      </p:sp>
      <p:sp>
        <p:nvSpPr>
          <p:cNvPr id="12291" name="Rectangle 1">
            <a:extLst>
              <a:ext uri="{FF2B5EF4-FFF2-40B4-BE49-F238E27FC236}">
                <a16:creationId xmlns:a16="http://schemas.microsoft.com/office/drawing/2014/main" id="{D47123FF-0600-E8B9-4790-48F0AF16F9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3DC9CFCB-BFF4-FC8E-C3E1-CCDE1E7825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>
            <a:extLst>
              <a:ext uri="{FF2B5EF4-FFF2-40B4-BE49-F238E27FC236}">
                <a16:creationId xmlns:a16="http://schemas.microsoft.com/office/drawing/2014/main" id="{D75B139A-58B4-5A45-38B3-C2D8B9A47FF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D39DA15-3213-4FC3-B49D-444A3FFEDA8A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IN" altLang="en-US" sz="1400"/>
          </a:p>
        </p:txBody>
      </p:sp>
      <p:sp>
        <p:nvSpPr>
          <p:cNvPr id="16387" name="Rectangle 1">
            <a:extLst>
              <a:ext uri="{FF2B5EF4-FFF2-40B4-BE49-F238E27FC236}">
                <a16:creationId xmlns:a16="http://schemas.microsoft.com/office/drawing/2014/main" id="{EA1CB7E8-7B43-D383-1F3C-202E2D3E3E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668E10E6-1896-FC1D-AD68-36A099E8C1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9C4943E8-DD9A-F092-3596-D7C1E81BB46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12DEBD1-6BDB-477B-81D7-151C1347F2B0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IN" altLang="en-US" sz="1400"/>
          </a:p>
        </p:txBody>
      </p:sp>
      <p:sp>
        <p:nvSpPr>
          <p:cNvPr id="20483" name="Rectangle 1">
            <a:extLst>
              <a:ext uri="{FF2B5EF4-FFF2-40B4-BE49-F238E27FC236}">
                <a16:creationId xmlns:a16="http://schemas.microsoft.com/office/drawing/2014/main" id="{596B7EDF-673B-04AF-16B6-40F9ABB9E3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68D48CF4-FDDC-FD44-5D89-025104286C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6">
            <a:extLst>
              <a:ext uri="{FF2B5EF4-FFF2-40B4-BE49-F238E27FC236}">
                <a16:creationId xmlns:a16="http://schemas.microsoft.com/office/drawing/2014/main" id="{8FE5FEDA-1D19-318F-C3B7-1CB5406915F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685C99AF-01FA-4327-8FCF-C350BD4B54B7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IN" altLang="en-US" sz="1400"/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5DFD7E85-EA61-F3DC-EEC4-6D5B6A523B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D417B7EA-BCDB-EA91-9CB1-2BF73952F7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6">
            <a:extLst>
              <a:ext uri="{FF2B5EF4-FFF2-40B4-BE49-F238E27FC236}">
                <a16:creationId xmlns:a16="http://schemas.microsoft.com/office/drawing/2014/main" id="{2E9E3D04-623C-2E84-2A75-889FFEB059D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3BF2DD1-A0C7-44AE-B23B-759BB37BA27E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IN" altLang="en-US" sz="1400"/>
          </a:p>
        </p:txBody>
      </p:sp>
      <p:sp>
        <p:nvSpPr>
          <p:cNvPr id="25603" name="Rectangle 1">
            <a:extLst>
              <a:ext uri="{FF2B5EF4-FFF2-40B4-BE49-F238E27FC236}">
                <a16:creationId xmlns:a16="http://schemas.microsoft.com/office/drawing/2014/main" id="{BBF00D7A-D317-3851-BD34-3F259EE2A7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8BB1A212-E04E-2132-28BB-5C55D8959E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>
            <a:extLst>
              <a:ext uri="{FF2B5EF4-FFF2-40B4-BE49-F238E27FC236}">
                <a16:creationId xmlns:a16="http://schemas.microsoft.com/office/drawing/2014/main" id="{CE6F6953-F3C1-DCDB-187C-2387A9569DEE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2CA6875-34B3-4961-9A6F-158D3C68757E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IN" altLang="en-US" sz="1400"/>
          </a:p>
        </p:txBody>
      </p:sp>
      <p:sp>
        <p:nvSpPr>
          <p:cNvPr id="27651" name="Rectangle 1">
            <a:extLst>
              <a:ext uri="{FF2B5EF4-FFF2-40B4-BE49-F238E27FC236}">
                <a16:creationId xmlns:a16="http://schemas.microsoft.com/office/drawing/2014/main" id="{776C4C16-2E82-9D87-D2AA-40C8D03025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B3F29FB9-3626-2914-85A5-3D3014B37A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>
            <a:extLst>
              <a:ext uri="{FF2B5EF4-FFF2-40B4-BE49-F238E27FC236}">
                <a16:creationId xmlns:a16="http://schemas.microsoft.com/office/drawing/2014/main" id="{10656370-3372-C1B5-F088-0C7D3D24DC1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9966107-D284-4110-BEB1-FBC065B6BAC3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IN" altLang="en-US" sz="1400"/>
          </a:p>
        </p:txBody>
      </p:sp>
      <p:sp>
        <p:nvSpPr>
          <p:cNvPr id="35843" name="Rectangle 1">
            <a:extLst>
              <a:ext uri="{FF2B5EF4-FFF2-40B4-BE49-F238E27FC236}">
                <a16:creationId xmlns:a16="http://schemas.microsoft.com/office/drawing/2014/main" id="{CC69E5EC-6E2A-3EF8-DA21-4B5105EE99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885C9A47-344D-D6BE-965E-06F0FC6F75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>
            <a:extLst>
              <a:ext uri="{FF2B5EF4-FFF2-40B4-BE49-F238E27FC236}">
                <a16:creationId xmlns:a16="http://schemas.microsoft.com/office/drawing/2014/main" id="{D53AC132-809A-D767-19DC-CD991858EBD7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233BE31-746D-4B14-BC40-A17890216F30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en-IN" altLang="en-US" sz="1400"/>
          </a:p>
        </p:txBody>
      </p:sp>
      <p:sp>
        <p:nvSpPr>
          <p:cNvPr id="37891" name="Rectangle 1">
            <a:extLst>
              <a:ext uri="{FF2B5EF4-FFF2-40B4-BE49-F238E27FC236}">
                <a16:creationId xmlns:a16="http://schemas.microsoft.com/office/drawing/2014/main" id="{8ADDAC9C-914A-FBCF-E6D1-EC67081FB5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BDA16A0E-BD20-B959-202B-15E2974634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>
            <a:extLst>
              <a:ext uri="{FF2B5EF4-FFF2-40B4-BE49-F238E27FC236}">
                <a16:creationId xmlns:a16="http://schemas.microsoft.com/office/drawing/2014/main" id="{1BBE40DB-65A9-D3E1-3543-4417BF0E0AF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B3E3A94-8863-4E68-A712-55BD42E7793F}" type="slidenum">
              <a:rPr lang="en-IN" altLang="en-US" sz="1400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27</a:t>
            </a:fld>
            <a:endParaRPr lang="en-IN" altLang="en-US" sz="1400"/>
          </a:p>
        </p:txBody>
      </p:sp>
      <p:sp>
        <p:nvSpPr>
          <p:cNvPr id="39939" name="Rectangle 1">
            <a:extLst>
              <a:ext uri="{FF2B5EF4-FFF2-40B4-BE49-F238E27FC236}">
                <a16:creationId xmlns:a16="http://schemas.microsoft.com/office/drawing/2014/main" id="{CEFC9746-C5B2-C2D5-D4F6-C7592156F0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4DCF226D-23FF-D89E-027E-B270210E61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>
            <a:extLst>
              <a:ext uri="{FF2B5EF4-FFF2-40B4-BE49-F238E27FC236}">
                <a16:creationId xmlns:a16="http://schemas.microsoft.com/office/drawing/2014/main" id="{D9A09357-13CC-59F3-B27D-DD95EDCCFA0B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1449991-D8F7-726A-1508-9E15836370A0}"/>
                </a:ext>
              </a:extLst>
            </p:cNvPr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D1621A6-6CC1-9013-0E68-FC0F9B8506D0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29">
              <a:extLst>
                <a:ext uri="{FF2B5EF4-FFF2-40B4-BE49-F238E27FC236}">
                  <a16:creationId xmlns:a16="http://schemas.microsoft.com/office/drawing/2014/main" id="{B3510599-BC86-E466-CEB4-86ED72469547}"/>
                </a:ext>
              </a:extLst>
            </p:cNvPr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30">
              <a:extLst>
                <a:ext uri="{FF2B5EF4-FFF2-40B4-BE49-F238E27FC236}">
                  <a16:creationId xmlns:a16="http://schemas.microsoft.com/office/drawing/2014/main" id="{8EA39DEF-03A7-369B-CC76-42A53329EA27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31">
              <a:extLst>
                <a:ext uri="{FF2B5EF4-FFF2-40B4-BE49-F238E27FC236}">
                  <a16:creationId xmlns:a16="http://schemas.microsoft.com/office/drawing/2014/main" id="{3B61C44A-DB9F-CEE9-D346-419D2516180D}"/>
                </a:ext>
              </a:extLst>
            </p:cNvPr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32">
              <a:extLst>
                <a:ext uri="{FF2B5EF4-FFF2-40B4-BE49-F238E27FC236}">
                  <a16:creationId xmlns:a16="http://schemas.microsoft.com/office/drawing/2014/main" id="{07DF9199-67E1-C385-8801-84534398CA2C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33">
              <a:extLst>
                <a:ext uri="{FF2B5EF4-FFF2-40B4-BE49-F238E27FC236}">
                  <a16:creationId xmlns:a16="http://schemas.microsoft.com/office/drawing/2014/main" id="{AD446A34-C381-F5ED-62B5-375AB48579B5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3656930F-E48E-8E0E-1972-80E15F88DB56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35">
              <a:extLst>
                <a:ext uri="{FF2B5EF4-FFF2-40B4-BE49-F238E27FC236}">
                  <a16:creationId xmlns:a16="http://schemas.microsoft.com/office/drawing/2014/main" id="{F63D2706-0A6D-1F3F-0160-20A2DC4816AC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7">
              <a:extLst>
                <a:ext uri="{FF2B5EF4-FFF2-40B4-BE49-F238E27FC236}">
                  <a16:creationId xmlns:a16="http://schemas.microsoft.com/office/drawing/2014/main" id="{41DA6487-5869-F17E-DBC6-ADC0B1C2D3AC}"/>
                </a:ext>
              </a:extLst>
            </p:cNvPr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2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A4ABC639-1768-FE0A-5907-36607F1A8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176175-FE75-4378-A3DA-4FF5A516EBFD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371D56-1384-A93D-BB0F-6B4AFA83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B9FF63D-EB2B-D231-82E2-051CFFA98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8F26E-12DA-4CFC-ACF6-76F80433086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15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4BDB-DBDE-398B-05B2-10A0668B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0ECE22-60A1-41F1-9D10-0DA0E2B660BF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EBCC4-DB0C-0DA1-620B-C76A3921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6FB64-A9DE-E11F-94F4-D8CAAEC34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61FBA-41D1-4D99-B831-855A3644A3B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92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0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52CD3-D03F-5A86-06E4-0B4ED6FAB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DB3909-6617-4506-8B85-F8486FE0E5C6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D4597-2E21-1E65-4152-1B2AE8553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C2E55-FE20-EA9E-95A5-44DE66203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2A6EE7-A8BE-42D6-8336-1C951ED08D1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906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C930DBF-14CC-E231-49B4-4BCF8B80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F7D1CB-DAC0-4464-8BED-1E6ABC4F966A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38586F8-8A8D-31AA-1EC7-93F9DCD4A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25D2D3D-FAA7-FFF5-1AEF-B10484885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37F96B-1ADB-4C30-AD75-6D4C907EF53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33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2268A7A-4A64-2A95-591B-8705ACCF0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9F3845-8853-40B5-9DFB-05DB7DB619F1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714E85B-E154-0377-7AAA-AC8685D9E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5A47F1F-1855-D0B1-D9E5-BA588F27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AA5F1A-1FD3-415A-BF9F-DAE926001F7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068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61A97C9-CBBA-AA05-0D8A-F1C9EA1EF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63A29-64B1-4233-BCCF-571D91191A62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8F44FA5-EC5E-DBD7-2F27-1B7625DA5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E963A91-4EAB-0966-1F68-25BD4000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DD631-3A0C-4A37-BA31-3526F7C12B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25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53153A1-D256-6748-733F-467429ABF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59EB92-7FAC-4575-98DE-B8F4A3CB546D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6517BD-1CED-5348-68CB-6996CA16D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DDDD8D5-1B63-B792-646D-ECADAE173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DDD3F-5052-4154-A6D6-6EA658BC37D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21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377979" indent="0">
              <a:buNone/>
              <a:defRPr sz="1157"/>
            </a:lvl2pPr>
            <a:lvl3pPr marL="755957" indent="0">
              <a:buNone/>
              <a:defRPr sz="992"/>
            </a:lvl3pPr>
            <a:lvl4pPr marL="1133936" indent="0">
              <a:buNone/>
              <a:defRPr sz="827"/>
            </a:lvl4pPr>
            <a:lvl5pPr marL="1511915" indent="0">
              <a:buNone/>
              <a:defRPr sz="827"/>
            </a:lvl5pPr>
            <a:lvl6pPr marL="1889893" indent="0">
              <a:buNone/>
              <a:defRPr sz="827"/>
            </a:lvl6pPr>
            <a:lvl7pPr marL="2267872" indent="0">
              <a:buNone/>
              <a:defRPr sz="827"/>
            </a:lvl7pPr>
            <a:lvl8pPr marL="2645851" indent="0">
              <a:buNone/>
              <a:defRPr sz="827"/>
            </a:lvl8pPr>
            <a:lvl9pPr marL="302382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FBA34FA-EC7B-F140-D07E-1399EAF9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04F57-2156-4DBC-82E9-9BB4A8E7D7E0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8446436-468D-F5DB-FF56-70C4F6740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E88408-BAC5-67CB-8FED-79D02D3EA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28D16A-EEF3-4568-9C7D-83A477A6980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4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rtlCol="0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BDA3E74-1BFE-FFC1-165A-2FF0CE9B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59E5D2-B77B-470D-BA82-CA2E31E42A95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1222B6D-B077-1641-9383-4E88FFE7D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99D1408-381E-4FC0-21ED-49B1F2A26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7BE156-128A-4DEA-A234-754A48371C8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019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2786E-3F0F-0342-9217-B79C0CBFA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03AF4-3A9F-40B2-9BBC-0CF524C8AA8B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CFDC8-5DE5-EA5C-27C0-3AC8AC727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4FBCB-897B-B020-1FD7-0F0EBB735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C8F28C-8AE9-4755-A06E-FD8EE527F6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34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7B6F51-C179-ADDE-B4FA-5B47F5983F78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94B372-E128-D158-5022-B794812D5827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90F60E08-AD76-72A0-BEAA-35F42CB18FF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12447-72FB-4DD8-8BC7-7519BE98F72F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27F2D5E-2D4E-EAF8-56B5-D276417A7D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893CA56-DD21-749C-435D-3C3E847740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803F2C-4076-4B7F-92B1-B254F4588C4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9208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DD0ED-2EC1-E050-1DD9-F8563816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9E6EC-4A1F-417A-B292-F1FCC72AE166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C21E4-B7D1-C43C-4842-9D4B20A7E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5B29B-F903-13F6-3E81-A5B558FC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B5B41F-AB5F-4D56-9722-6FAF32E0CD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9912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0351356-65A2-07E1-955C-566BD1F80A2F}"/>
              </a:ext>
            </a:extLst>
          </p:cNvPr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FAD4C7-377E-3A74-FB7A-0D1D586BC1C2}"/>
              </a:ext>
            </a:extLst>
          </p:cNvPr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27CBADC-87A8-8C56-BB98-9DA2DBE4CF8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AA130E-E817-49B1-8FE3-ACA719CFF30A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3E3D541-1D76-442E-2F1E-E5169A9CC93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B2F8DD4-A8D9-48A8-02F7-CC2A9E67FC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EDF35C-94A0-44B5-821B-CD865B1ABC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330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02686-81AD-EF9B-B910-A2B7334F09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30DECA-8473-4BEA-8616-2CDE09E604A6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E8CD0-BD56-2195-660B-1D5383404FB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F40EB-DDAF-80BF-4F97-5449F03E16D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471FD6-163F-439D-AEDC-92D7FB7FB9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816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4ABF6-3CE1-5105-7F16-51636D5A5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D003A-CC48-4343-95E3-1FD369C6CB10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60F08C-7DD5-F790-80C0-B9FDE89C8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AACF8-B263-5C68-A738-59CBAED22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899067-6CA7-437B-BD4B-60EA688A1B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136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BC889-8096-5CD9-0692-41688DAB6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58682D-A55D-4229-ACCD-7DCD21252E24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104A5-DB4D-8FD7-7FAA-3E77F72A9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93A9A-0DD4-47F6-063B-CA90340D4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722EE-2A79-4684-BB9B-15EFC02AEF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884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">
            <a:extLst>
              <a:ext uri="{FF2B5EF4-FFF2-40B4-BE49-F238E27FC236}">
                <a16:creationId xmlns:a16="http://schemas.microsoft.com/office/drawing/2014/main" id="{D9F1B5C5-472D-0719-9A11-764095DBD9DB}"/>
              </a:ext>
            </a:extLst>
          </p:cNvPr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2037FA9-691B-4593-E713-982D01DFDA00}"/>
                </a:ext>
              </a:extLst>
            </p:cNvPr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DD2148C-EAF5-9924-6CC4-64321E824FB7}"/>
                </a:ext>
              </a:extLst>
            </p:cNvPr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C514F20-1282-F657-E11C-D2BF36A52B23}"/>
                </a:ext>
              </a:extLst>
            </p:cNvPr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BD5FE2D-C740-2E27-B2E7-E40A7DA310BD}"/>
                </a:ext>
              </a:extLst>
            </p:cNvPr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A2E9700-F111-F66F-4DE3-76957343F6E9}"/>
                </a:ext>
              </a:extLst>
            </p:cNvPr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9C1F0E1-96B4-D1EA-D602-A9833D956221}"/>
                </a:ext>
              </a:extLst>
            </p:cNvPr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1BE9771-9DBB-743B-8B96-B5E5FCB76B3D}"/>
                </a:ext>
              </a:extLst>
            </p:cNvPr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570B9E0-1CEF-EC32-BF2B-0D2BA83CE7B1}"/>
                </a:ext>
              </a:extLst>
            </p:cNvPr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C35860F9-435C-2709-7763-BA5B62B766BC}"/>
                </a:ext>
              </a:extLst>
            </p:cNvPr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3C69EC4B-9C6C-B17F-4D20-2982C95089DD}"/>
                </a:ext>
              </a:extLst>
            </p:cNvPr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DFA09BA0-669C-10C6-AEDB-3BECCBAFE7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71513" y="671513"/>
            <a:ext cx="6997700" cy="145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58EBA98D-9FE1-D745-1F1F-90A2571A2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1513" y="2381250"/>
            <a:ext cx="69977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D9C9A9-4F6D-7B54-2991-0FCDA70A3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8AA1DCE-D7CC-4AB2-882D-633733CB8F95}" type="datetimeFigureOut">
              <a:rPr lang="en-US"/>
              <a:pPr>
                <a:defRPr/>
              </a:pPr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2AC82-9893-0F0C-59FA-FFE9E0EC2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2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4D0FA-85AB-BEDE-25A1-9025984848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accent1"/>
                </a:solidFill>
                <a:latin typeface="+mn-lt"/>
              </a:defRPr>
            </a:lvl1pPr>
          </a:lstStyle>
          <a:p>
            <a:pPr>
              <a:defRPr/>
            </a:pPr>
            <a:fld id="{FCF56322-2A71-4383-8C29-247B0F888E0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92" r:id="rId11"/>
    <p:sldLayoutId id="2147483887" r:id="rId12"/>
    <p:sldLayoutId id="2147483893" r:id="rId13"/>
    <p:sldLayoutId id="2147483888" r:id="rId14"/>
    <p:sldLayoutId id="2147483889" r:id="rId15"/>
    <p:sldLayoutId id="2147483890" r:id="rId16"/>
  </p:sldLayoutIdLst>
  <p:txStyles>
    <p:titleStyle>
      <a:lvl1pPr algn="l" defTabSz="503238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563" indent="-3143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8888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3713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5E89822B-ABA1-B41A-862A-87BD4C6D8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54673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ZenSpace.AI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Interior Design Platform”</a:t>
            </a:r>
            <a:endParaRPr lang="en-IN" altLang="en-US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altLang="en-US" sz="3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Aayush Thakur - 23107015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Durvesh Wagle - 23107019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Yash Shinde - 23107020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Ahan Upadhye - 23107027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Guide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Ms. Aavani N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0BED3B-A84C-DAB5-04D3-D011461942A7}"/>
              </a:ext>
            </a:extLst>
          </p:cNvPr>
          <p:cNvCxnSpPr/>
          <p:nvPr/>
        </p:nvCxnSpPr>
        <p:spPr>
          <a:xfrm>
            <a:off x="0" y="1743075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8" name="Picture 3">
            <a:extLst>
              <a:ext uri="{FF2B5EF4-FFF2-40B4-BE49-F238E27FC236}">
                <a16:creationId xmlns:a16="http://schemas.microsoft.com/office/drawing/2014/main" id="{773FEAC4-467F-7407-89DF-A93DFB5A1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0" y="146050"/>
            <a:ext cx="7686675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632A7443-DDA8-D0D9-5913-D19280C26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44463"/>
            <a:ext cx="907097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Outline</a:t>
            </a: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545822A0-DB05-956B-378F-9648DF279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236663"/>
            <a:ext cx="9323388" cy="557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/>
              <a:t>Introduction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/>
              <a:t>Literature Survey of the existing systems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/>
              <a:t>Limitations of the existing systems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/>
              <a:t>Problem statement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/>
              <a:t>System Design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/>
              <a:t>Technologies and methodologies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/>
              <a:t>Implementation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400"/>
              <a:t>Conclusion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400"/>
              <a:t>References</a:t>
            </a: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DejaVu Sans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28B7BF35-8066-FAB6-1A1A-E1C638C4E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9138" y="250825"/>
            <a:ext cx="7540625" cy="1152525"/>
          </a:xfrm>
        </p:spPr>
        <p:txBody>
          <a:bodyPr/>
          <a:lstStyle/>
          <a:p>
            <a:r>
              <a:rPr lang="en-IN" altLang="en-US" sz="3600">
                <a:solidFill>
                  <a:schemeClr val="tx1"/>
                </a:solidFill>
              </a:rPr>
              <a:t>Sustainable Development Goals (SDG) mapped</a:t>
            </a:r>
          </a:p>
        </p:txBody>
      </p:sp>
      <p:sp>
        <p:nvSpPr>
          <p:cNvPr id="10243" name="Content Placeholder 4">
            <a:extLst>
              <a:ext uri="{FF2B5EF4-FFF2-40B4-BE49-F238E27FC236}">
                <a16:creationId xmlns:a16="http://schemas.microsoft.com/office/drawing/2014/main" id="{065F71D7-3D28-868E-A052-4EE12F8555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19138" y="1619250"/>
            <a:ext cx="8256587" cy="5689600"/>
          </a:xfrm>
        </p:spPr>
        <p:txBody>
          <a:bodyPr/>
          <a:lstStyle/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IN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1] </a:t>
            </a:r>
            <a:r>
              <a:rPr lang="en-IN" alt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9: Industry, Innovation and Infrastructure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IN" altLang="en-US" sz="17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IN" alt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Build resilient infrastructure, promote sustainable industrialization and foster innovation.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IN" altLang="en-US" sz="17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Mapping:</a:t>
            </a:r>
            <a:r>
              <a:rPr lang="en-IN" alt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Zenspace.AI uses AI, computer vision, and 3D visualization to innovate in the interior design industry. It promotes digital infrastructure for design and makes advanced technologies accessible to common users</a:t>
            </a:r>
            <a:r>
              <a:rPr lang="en-IN" alt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alt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2] </a:t>
            </a:r>
            <a:r>
              <a:rPr lang="en-US" alt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12: Responsible Consumption and Production</a:t>
            </a:r>
            <a:endParaRPr lang="en-US" alt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altLang="en-US" sz="17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US" alt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Ensure sustainable consumption and production patterns.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altLang="en-US" sz="17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Mapping:</a:t>
            </a:r>
            <a:r>
              <a:rPr lang="en-US" alt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offering pricing transparency and virtual previews, Zenspace.AI reduces impulse purchases and furniture waste. It helps users make informed decisions, supporting eco-friendly consumption and minimizing unnecessary production.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IN" altLang="en-US" sz="17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3] </a:t>
            </a:r>
            <a:r>
              <a:rPr lang="en-US" altLang="en-US" sz="17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8: Decent Work and Economic Growth</a:t>
            </a:r>
            <a:endParaRPr lang="en-US" altLang="en-US" sz="17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altLang="en-US" sz="17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r>
              <a:rPr lang="en-US" altLang="en-US" sz="1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Promote sustained, inclusive, and sustainable economic growth, full and productive employment, and decent work for all.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altLang="en-US" sz="17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Mapping:</a:t>
            </a:r>
            <a:r>
              <a:rPr lang="en-US" altLang="en-US" sz="1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integrating e-commerce options, Zenspace.AI opens opportunities for local furniture businesses, artisans, and designers to reach wider audiences, boosting digital economy growth.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endParaRPr lang="en-I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13C3F577-C143-BF8C-CD3F-73ACFF071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Introduction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84C8C029-D719-A2D3-3C95-B0113275E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1563688"/>
            <a:ext cx="7580313" cy="553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9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7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5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Interior designing is often expensive, time-consuming, and requires professional expertise. </a:t>
            </a:r>
          </a:p>
          <a:p>
            <a:pPr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Many people struggle to visualize how furniture, colors, or themes will look in their space before making decisions. </a:t>
            </a:r>
          </a:p>
          <a:p>
            <a:pPr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solve this, Zenspace.AI is a web-based platform that combines AI, computer vision, and 3D visualization to help users upload images/videos of their rooms and instantly explore multiple design options. </a:t>
            </a:r>
          </a:p>
          <a:p>
            <a:pPr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2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not only suggests styles and layouts but also provides cost estimation and customization features, making interior planning more accessible, affordable, and user-friendly.</a:t>
            </a:r>
            <a:endParaRPr lang="en-US" altLang="en-US" sz="20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C978AE8E-D06E-E0EE-1403-01BFF61067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671513"/>
            <a:ext cx="7165975" cy="1092200"/>
          </a:xfrm>
        </p:spPr>
        <p:txBody>
          <a:bodyPr/>
          <a:lstStyle/>
          <a:p>
            <a:r>
              <a:rPr lang="en-US" altLang="en-US" sz="4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IN" altLang="en-US" sz="40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5" name="Rectangle 1">
            <a:extLst>
              <a:ext uri="{FF2B5EF4-FFF2-40B4-BE49-F238E27FC236}">
                <a16:creationId xmlns:a16="http://schemas.microsoft.com/office/drawing/2014/main" id="{3C1C0331-1461-AD66-FB8E-8FF3EEC19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3" y="1687513"/>
            <a:ext cx="7872412" cy="418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Many individuals find it difficult to visualize how a room will look after  interior changes.</a:t>
            </a:r>
          </a:p>
          <a:p>
            <a:pPr>
              <a:buFontTx/>
              <a:buChar char="•"/>
            </a:pP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Hiring professional designers can be expensive and not accessible to everyone.</a:t>
            </a:r>
          </a:p>
          <a:p>
            <a:pPr>
              <a:buFontTx/>
              <a:buChar char="•"/>
            </a:pP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A lot of money and resources are wasted due to wrong purchases or design mismatches.</a:t>
            </a:r>
          </a:p>
          <a:p>
            <a:pPr>
              <a:buFontTx/>
              <a:buChar char="•"/>
            </a:pP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There is a growing need for AI-driven tools that make interior designing easy for no-experts.</a:t>
            </a:r>
          </a:p>
          <a:p>
            <a:pPr>
              <a:buFontTx/>
              <a:buChar char="•"/>
            </a:pPr>
            <a:endParaRPr lang="en-US" altLang="en-US" sz="19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sz="1900">
                <a:latin typeface="Times New Roman" panose="02020603050405020304" pitchFamily="18" charset="0"/>
                <a:cs typeface="Times New Roman" panose="02020603050405020304" pitchFamily="18" charset="0"/>
              </a:rPr>
              <a:t> With urbanization, space-saving and sustainable designs are crucial for modern living.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590D46D6-FEC6-ADD4-197B-BDC772D4D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238" y="671513"/>
            <a:ext cx="7165975" cy="947737"/>
          </a:xfrm>
        </p:spPr>
        <p:txBody>
          <a:bodyPr/>
          <a:lstStyle/>
          <a:p>
            <a:r>
              <a:rPr lang="en-US" alt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alt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9" name="Rectangle 1">
            <a:extLst>
              <a:ext uri="{FF2B5EF4-FFF2-40B4-BE49-F238E27FC236}">
                <a16:creationId xmlns:a16="http://schemas.microsoft.com/office/drawing/2014/main" id="{6047C8C8-E083-EDD3-8598-68FF2141EB6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1800" y="2051644"/>
            <a:ext cx="8738368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users to input a custom prompt describing their desired room and style, and instantly generate AI-driven personalized interior design variations.</a:t>
            </a:r>
          </a:p>
          <a:p>
            <a:pPr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AR models of furniture that users can view in their physical space through QR codes creating an immersive experience to better judge design fit and scale.</a:t>
            </a:r>
          </a:p>
          <a:p>
            <a:pPr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interactive 3D models of rooms and furniture with real-time color customization for effective design visualization.</a:t>
            </a:r>
          </a:p>
          <a:p>
            <a:pPr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Instant cost calculator for pricing of selected design &amp; furniture with a favorites feature for user to save design option easily.</a:t>
            </a:r>
          </a:p>
          <a:p>
            <a:pPr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C7E97C45-B5EB-1485-8B7E-874774CA4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45402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Literature Survey of the existing system</a:t>
            </a: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43AE6F5D-0F64-B9D2-D5A5-B4341B1F1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r>
              <a:rPr lang="en-IN" altLang="en-US" sz="3600" i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IN" altLang="en-US" sz="36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Content Placeholder 4">
            <a:extLst>
              <a:ext uri="{FF2B5EF4-FFF2-40B4-BE49-F238E27FC236}">
                <a16:creationId xmlns:a16="http://schemas.microsoft.com/office/drawing/2014/main" id="{22CF8D23-4B03-9237-7362-BAC2807C44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6462306"/>
              </p:ext>
            </p:extLst>
          </p:nvPr>
        </p:nvGraphicFramePr>
        <p:xfrm>
          <a:off x="144463" y="1042988"/>
          <a:ext cx="9791701" cy="63166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9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79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39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439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06019"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Outcomes</a:t>
                      </a:r>
                    </a:p>
                  </a:txBody>
                  <a:tcPr marL="91427" marR="91427" marT="45728" marB="45728"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0643"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/>
                </a:tc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Modsy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 AI for Interior Visualization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/>
                </a:tc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Modsy</a:t>
                      </a: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Inc.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Creates 3D models of rooms and suggests furniture arrangements </a:t>
                      </a:r>
                    </a:p>
                  </a:txBody>
                  <a:tcPr marL="91427" marR="91427" marT="45728" marB="45728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+ 3D Rendering (Three.js, AR/VR integration)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28" marB="45728"/>
                </a:tc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Paid Services;</a:t>
                      </a:r>
                    </a:p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Limited Free accessibility;</a:t>
                      </a:r>
                    </a:p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Arial" panose="020B0604020202020204"/>
                        </a:rPr>
                        <a:t>No open customization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1427" marR="91427" marT="45728" marB="4572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AFCA8-0A20-F77B-FA7B-47B108AEE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300038"/>
            <a:ext cx="8904288" cy="731837"/>
          </a:xfrm>
        </p:spPr>
        <p:txBody>
          <a:bodyPr/>
          <a:lstStyle/>
          <a:p>
            <a:pPr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Literature Survey of the existing system</a:t>
            </a:r>
            <a:endParaRPr lang="en-IN" sz="3600" dirty="0"/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E399663C-92F0-FFFD-CA6E-A9361841949F}"/>
              </a:ext>
            </a:extLst>
          </p:cNvPr>
          <p:cNvGraphicFramePr>
            <a:graphicFrameLocks/>
          </p:cNvGraphicFramePr>
          <p:nvPr/>
        </p:nvGraphicFramePr>
        <p:xfrm>
          <a:off x="144463" y="1271588"/>
          <a:ext cx="9791701" cy="599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9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79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39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439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79912"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11" marB="45711"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11" marB="45711"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11" marB="45711"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Outcomes</a:t>
                      </a:r>
                    </a:p>
                  </a:txBody>
                  <a:tcPr marL="91427" marR="91427" marT="45711" marB="45711"/>
                </a:tc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11" marB="45711"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Demerits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11" marB="4571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4488"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11" marB="45711"/>
                </a:tc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Planner 5D: Online Interior Design Tool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11" marB="4571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Planner 5D Team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11" marB="45711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11" marB="45711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Allows users to design rooms in 2D/3D and visualize furniture placement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11" marB="45711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WebGL,3D rendering engines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11" marB="45711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design process ; not AI- driven ; time – consuming for users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7" marR="91427" marT="45711" marB="4571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18FE-CE94-BA55-81E4-6F203A948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238" y="395288"/>
            <a:ext cx="8929687" cy="660400"/>
          </a:xfrm>
        </p:spPr>
        <p:txBody>
          <a:bodyPr/>
          <a:lstStyle/>
          <a:p>
            <a:pPr>
              <a:defRPr/>
            </a:pPr>
            <a:r>
              <a:rPr lang="en-IN" altLang="en-US" sz="4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Literature Survey of the existing system</a:t>
            </a:r>
            <a:endParaRPr lang="en-IN" dirty="0"/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81B453AE-1DD1-AC1F-DB6D-C91B97A8568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44463" y="1331913"/>
          <a:ext cx="9791700" cy="583247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6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8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82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34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441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05834"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 No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marT="45719" marB="45719"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marT="45719" marB="45719"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marT="45719" marB="45719"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Outcomes</a:t>
                      </a:r>
                    </a:p>
                  </a:txBody>
                  <a:tcPr marL="91428" marR="91428" marT="45719" marB="45719"/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91428" marR="91428" marT="45719" marB="45719"/>
                </a:tc>
                <a:tc>
                  <a:txBody>
                    <a:bodyPr/>
                    <a:lstStyle/>
                    <a:p>
                      <a:pPr marL="0" marR="0" lvl="0" indent="0" algn="ctr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erits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641"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marT="45719" marB="45719"/>
                </a:tc>
                <a:tc>
                  <a:txBody>
                    <a:bodyPr/>
                    <a:lstStyle/>
                    <a:p>
                      <a:pPr marL="0" marR="0" lvl="0" indent="0" algn="l" defTabSz="5041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Roomify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AI-Powered Room Design Tool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marT="45719" marB="45719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John Doe et al</a:t>
                      </a:r>
                    </a:p>
                  </a:txBody>
                  <a:tcPr marL="91428" marR="91428" marT="45719" marB="45719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91428" marR="91428" marT="45719" marB="45719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AI-based room layout suggestions using user images.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marT="45719" marB="45719"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for image recognition, rule-based layout algorithms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28" marR="91428" marT="45719" marB="45719"/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customization; lacks real-time 3D interaction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1428" marR="91428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2E955CA3-DF12-8C06-7E01-BD9F1597C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249238"/>
            <a:ext cx="9070975" cy="866775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</a:t>
            </a: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Limitations of existing systems </a:t>
            </a: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ADCEB1D-696D-00E7-318B-F019025A2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427667E3-F7E2-5B8C-A709-A8DBC1428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308100"/>
            <a:ext cx="8928100" cy="591026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buFontTx/>
              <a:buChar char="•"/>
              <a:defRPr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of 3D Reconstruction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The quality of the 3D room model depends on the clarity of the video/image uploaded. Low-quality scans may reduce accuracy.</a:t>
            </a:r>
          </a:p>
          <a:p>
            <a:pPr>
              <a:defRPr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  <a:defRPr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Limited Design Suggestions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AI-generated design ideas are based on the dataset and may not always capture personal or cultural preferences.</a:t>
            </a:r>
          </a:p>
          <a:p>
            <a:pPr>
              <a:buFontTx/>
              <a:buChar char="•"/>
              <a:defRPr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  <a:defRPr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Device &amp; Performance Constraints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Running 3D rendering and AI visualization in the browser may be resource-heavy for low-end devices.</a:t>
            </a:r>
          </a:p>
          <a:p>
            <a:pPr>
              <a:buFontTx/>
              <a:buChar char="•"/>
              <a:defRPr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  <a:defRPr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Dependency on Internet Connectivity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Since the system is cloud-based, poor internet can affect performance and real-time rendering.</a:t>
            </a:r>
          </a:p>
          <a:p>
            <a:pPr>
              <a:buFontTx/>
              <a:buChar char="•"/>
              <a:defRPr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  <a:defRPr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Pricing Approximation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Cost estimates for furniture and materials may not always match actual market variations.</a:t>
            </a:r>
          </a:p>
          <a:p>
            <a:pPr>
              <a:buFontTx/>
              <a:buChar char="•"/>
              <a:defRPr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  <a:defRPr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Privacy Concerns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Users uploading room images/videos may have concerns about                  data storage and misuse.</a:t>
            </a:r>
          </a:p>
          <a:p>
            <a:pPr>
              <a:buFontTx/>
              <a:buChar char="•"/>
              <a:defRPr/>
            </a:pPr>
            <a:endParaRPr lang="en-US" alt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  <a:defRPr/>
            </a:pPr>
            <a:r>
              <a:rPr lang="en-US" alt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Limited Real-World Testing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AI suggestions may not always perfectly align with physical feasibility (e.g., exact wall dimensions, lighting conditions).</a:t>
            </a:r>
          </a:p>
          <a:p>
            <a:pPr>
              <a:defRPr/>
            </a:pPr>
            <a:endParaRPr lang="en-US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79060-F710-90C7-BC69-3312CBABD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395288"/>
            <a:ext cx="6997700" cy="876300"/>
          </a:xfrm>
        </p:spPr>
        <p:txBody>
          <a:bodyPr/>
          <a:lstStyle/>
          <a:p>
            <a:pPr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</a:rPr>
              <a:t> </a:t>
            </a:r>
            <a:r>
              <a:rPr lang="en-IN" altLang="en-US" sz="37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</a:rPr>
              <a:t>Problem statement </a:t>
            </a:r>
            <a:endParaRPr lang="en-IN" sz="37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AAF898FE-DD48-9B27-EAF1-FC3A884F71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1800" y="1416050"/>
            <a:ext cx="8929688" cy="5964238"/>
          </a:xfrm>
        </p:spPr>
        <p:txBody>
          <a:bodyPr/>
          <a:lstStyle/>
          <a:p>
            <a:pPr>
              <a:buClr>
                <a:srgbClr val="0D0D0D"/>
              </a:buClr>
            </a:pPr>
            <a:r>
              <a:rPr lang="en-US" altLang="en-US" sz="1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Challenges</a:t>
            </a:r>
          </a:p>
          <a:p>
            <a:pPr>
              <a:buClr>
                <a:srgbClr val="0D0D0D"/>
              </a:buClr>
              <a:buFont typeface="Wingdings 3" panose="05040102010807070707" pitchFamily="18" charset="2"/>
              <a:buNone/>
            </a:pPr>
            <a:r>
              <a:rPr lang="en-US" alt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Visualizing room interiors before execution is difficult, leading to confusion and costly mistakes.</a:t>
            </a:r>
            <a:br>
              <a:rPr lang="en-US" alt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design services are time-consuming, expensive, and often lack flexibility for users.</a:t>
            </a:r>
          </a:p>
          <a:p>
            <a:pPr>
              <a:buClr>
                <a:srgbClr val="0D0D0D"/>
              </a:buClr>
            </a:pPr>
            <a:r>
              <a:rPr lang="en-US" altLang="en-US" sz="1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Gap Identified</a:t>
            </a:r>
          </a:p>
          <a:p>
            <a:pPr>
              <a:buClr>
                <a:srgbClr val="0D0D0D"/>
              </a:buClr>
              <a:buFont typeface="Wingdings 3" panose="05040102010807070707" pitchFamily="18" charset="2"/>
              <a:buNone/>
            </a:pPr>
            <a:r>
              <a:rPr lang="en-US" alt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solutions fail to provide an affordable and easy-to-use AI platform for personalized      design visualization.</a:t>
            </a:r>
            <a:br>
              <a:rPr lang="en-US" alt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tools lack real-time customization, 3D extraction, and multiple design options tailored to user needs.</a:t>
            </a:r>
          </a:p>
          <a:p>
            <a:pPr>
              <a:buClr>
                <a:srgbClr val="0D0D0D"/>
              </a:buClr>
            </a:pPr>
            <a:r>
              <a:rPr lang="en-US" altLang="en-US" sz="1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Proposed Solution – ZenSpace.AI</a:t>
            </a:r>
          </a:p>
          <a:p>
            <a:pPr>
              <a:buClr>
                <a:srgbClr val="0D0D0D"/>
              </a:buClr>
              <a:buFont typeface="Wingdings 3" panose="05040102010807070707" pitchFamily="18" charset="2"/>
              <a:buNone/>
            </a:pPr>
            <a:r>
              <a:rPr lang="en-US" alt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ZenSpace.AI enables users to scan or upload their room, extract its 3D layout, and receive AI-generated design suggestions.</a:t>
            </a:r>
            <a:br>
              <a:rPr lang="en-US" alt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offers interactive customization, providing multiple themes, furniture arrangements, and color options.</a:t>
            </a:r>
          </a:p>
          <a:p>
            <a:pPr>
              <a:buClr>
                <a:srgbClr val="0D0D0D"/>
              </a:buClr>
            </a:pPr>
            <a:r>
              <a:rPr lang="en-US" altLang="en-US" sz="17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Output</a:t>
            </a:r>
          </a:p>
          <a:p>
            <a:pPr>
              <a:buClr>
                <a:srgbClr val="0D0D0D"/>
              </a:buClr>
              <a:buFont typeface="Wingdings 3" panose="05040102010807070707" pitchFamily="18" charset="2"/>
              <a:buNone/>
            </a:pPr>
            <a:r>
              <a:rPr lang="en-US" alt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get a cost-effective and accessible tool to visualize their interiors in realistic 3D before implementation.</a:t>
            </a:r>
            <a:br>
              <a:rPr lang="en-US" alt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7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reduces errors, saves expenses, and empowers users to make confident design decisions without expert help.</a:t>
            </a:r>
          </a:p>
          <a:p>
            <a:pPr algn="just">
              <a:spcBef>
                <a:spcPct val="20000"/>
              </a:spcBef>
              <a:buClrTx/>
              <a:buSzTx/>
              <a:buFont typeface="Wingdings 3" panose="05040102010807070707" pitchFamily="18" charset="2"/>
              <a:buNone/>
            </a:pPr>
            <a:endParaRPr lang="en-IN" alt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CD2E0B93-C2FA-D5F5-195C-364823102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5616575" cy="9572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System Design</a:t>
            </a: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42D432B-9ECF-9854-9F5C-00E87E6D1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 descr="Updated user workflow diagram for AI interior design project showing complete user journey from input to feedback">
            <a:extLst>
              <a:ext uri="{FF2B5EF4-FFF2-40B4-BE49-F238E27FC236}">
                <a16:creationId xmlns:a16="http://schemas.microsoft.com/office/drawing/2014/main" id="{8CFE2521-5FEE-AB14-5BB7-D9F8338A7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325" y="1700980"/>
            <a:ext cx="7200800" cy="415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BD51CEC2-6283-6F89-722E-2C385F86C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466725"/>
            <a:ext cx="6480175" cy="11191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Technologies and methodologies </a:t>
            </a:r>
          </a:p>
        </p:txBody>
      </p:sp>
      <p:sp>
        <p:nvSpPr>
          <p:cNvPr id="24579" name="Rectangle 6">
            <a:extLst>
              <a:ext uri="{FF2B5EF4-FFF2-40B4-BE49-F238E27FC236}">
                <a16:creationId xmlns:a16="http://schemas.microsoft.com/office/drawing/2014/main" id="{E8A01874-312D-B530-35FC-C7EBFD9F6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2406650"/>
            <a:ext cx="7632700" cy="2862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 + Express (API handling)</a:t>
            </a:r>
          </a:p>
          <a:p>
            <a:pPr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Firebase (user data, designs)</a:t>
            </a:r>
          </a:p>
          <a:p>
            <a:pPr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/ 3D: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OpenCV + Three.js (basic room scan + 3D view)</a:t>
            </a:r>
          </a:p>
          <a:p>
            <a:pPr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 + Tailwind CSS (UI for uploading room video &amp; viewing designs)</a:t>
            </a:r>
          </a:p>
          <a:p>
            <a:pPr>
              <a:buFontTx/>
              <a:buChar char="•"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Model: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Pre-trained CNN + Stable Diffusion API (for design suggestions)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16FB3A01-EA73-9E15-C7B3-69C4DB37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5984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Implementation </a:t>
            </a: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0E686F95-EC57-46EF-D03B-4CB18BEA6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51D1F2-386A-6EF9-5CED-E27F3316A2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453" y="1618048"/>
            <a:ext cx="4896544" cy="508558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1EEB5A-92BB-0D02-FFEF-D81B4E433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024" y="971525"/>
            <a:ext cx="5184576" cy="57240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3416FA-0635-B28C-04E8-8BD279EB08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103" y="1439577"/>
            <a:ext cx="8208417" cy="4680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A7BD26-1A0D-CA9C-DD3F-2CF5F01A7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68" y="1375240"/>
            <a:ext cx="7992888" cy="480919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9DEF83-8C7B-7199-1B57-10EB5F689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60" y="1367569"/>
            <a:ext cx="8136904" cy="482453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1C7E34-F37D-7124-BA30-309BAB43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92" y="1077303"/>
            <a:ext cx="7992640" cy="54050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409F39-5D17-3215-42EC-F41F543FC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88" y="2211505"/>
            <a:ext cx="8064648" cy="31366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8DAE3C-1F1D-858E-19AF-3A48D8735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84" y="1421712"/>
            <a:ext cx="8136656" cy="471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453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3C77AB-2F24-31D0-5789-8464A187D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983" y="1675981"/>
            <a:ext cx="8136657" cy="420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55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36742F-52E2-EFF3-A938-F1D3277CA4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920" y="1526398"/>
            <a:ext cx="7056784" cy="450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79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49BAC3-5C80-A5A1-BBFA-BD222C79E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896" y="1370047"/>
            <a:ext cx="7488832" cy="481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0178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F8E41A9F-8AF8-60A4-6377-D4180BDAD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5905500" cy="8905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Conclusion </a:t>
            </a: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124264F5-E604-7F8B-FBCB-463CC3ACA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216C49-C491-B7AF-CDD1-A0620944BDDE}"/>
              </a:ext>
            </a:extLst>
          </p:cNvPr>
          <p:cNvSpPr txBox="1"/>
          <p:nvPr/>
        </p:nvSpPr>
        <p:spPr>
          <a:xfrm>
            <a:off x="471488" y="1692275"/>
            <a:ext cx="8569325" cy="5292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Zenspace.AI offers an innovative step forward in interior design by combining computer vision, 3D modeling, and generative AI into a single platform. Unlike traditional tools, which often require manual effort and expertise,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Zenspace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automates the process of analyzing room structure and generating personalized design suggestions. This makes interior designing faster, more affordable, and accessible to a wider audience.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addresses the challenges of limited customization, lack of automation, and difficulty in visualizing designs by providing real-time AI-powered recommendations with immersive visualization. As a result, users can experiment with multiple design options, preview changes instantly, and achieve professional-quality outcomes without prior technical knowledge.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Zenspace.AI stands as a solution that transforms interior design into a smart, interactive, and user-centric experience, paving the way for future advancements in intelligent home design systems.</a:t>
            </a:r>
          </a:p>
          <a:p>
            <a:pPr>
              <a:defRPr/>
            </a:pPr>
            <a:endParaRPr lang="en-I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7323E663-6AB5-CA8D-2D6E-B7D7BA2DD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References</a:t>
            </a: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9EB90365-E0A0-E368-DF93-0D5F42DF5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8" name="Rectangle 5">
            <a:extLst>
              <a:ext uri="{FF2B5EF4-FFF2-40B4-BE49-F238E27FC236}">
                <a16:creationId xmlns:a16="http://schemas.microsoft.com/office/drawing/2014/main" id="{430A6E58-5ACC-C2F9-FBA7-69A63889E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238" y="2124075"/>
            <a:ext cx="7145337" cy="2246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John Doe et al. (2019). </a:t>
            </a:r>
            <a:r>
              <a:rPr lang="en-US" alt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Roomify: AI-Powered Room Design Tool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Planner5D Team. (2020). </a:t>
            </a:r>
            <a:r>
              <a:rPr lang="en-US" alt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Planner5D: Online Interior Design Tool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Autodesk. (2021). </a:t>
            </a:r>
            <a:r>
              <a:rPr lang="en-US" alt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Homestyler: Online Room Decor Tool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Tx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Modsy Inc. (2021). </a:t>
            </a:r>
            <a:r>
              <a:rPr lang="en-US" altLang="en-US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AI for Interior Visualization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>
            <a:extLst>
              <a:ext uri="{FF2B5EF4-FFF2-40B4-BE49-F238E27FC236}">
                <a16:creationId xmlns:a16="http://schemas.microsoft.com/office/drawing/2014/main" id="{E3D94E87-D9DF-323D-E960-8F4868786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3057525"/>
            <a:ext cx="9070975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Thank You...!!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71*458"/>
  <p:tag name="TABLE_ENDDRAG_RECT" val="11*76*771*458"/>
</p:tagLst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520</TotalTime>
  <Words>1319</Words>
  <Application>Microsoft Office PowerPoint</Application>
  <PresentationFormat>Custom</PresentationFormat>
  <Paragraphs>165</Paragraphs>
  <Slides>27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Sustainable Development Goals (SDG) mapped</vt:lpstr>
      <vt:lpstr>PowerPoint Presentation</vt:lpstr>
      <vt:lpstr>Motivation</vt:lpstr>
      <vt:lpstr>Objectives</vt:lpstr>
      <vt:lpstr>PowerPoint Presentation</vt:lpstr>
      <vt:lpstr>Literature Survey of the existing system</vt:lpstr>
      <vt:lpstr>Literature Survey of the existing system</vt:lpstr>
      <vt:lpstr>PowerPoint Presentation</vt:lpstr>
      <vt:lpstr> Problem statement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 b</dc:creator>
  <cp:lastModifiedBy>Aayush Thakur</cp:lastModifiedBy>
  <cp:revision>53</cp:revision>
  <cp:lastPrinted>1601-01-01T00:00:00Z</cp:lastPrinted>
  <dcterms:created xsi:type="dcterms:W3CDTF">2017-10-25T08:22:14Z</dcterms:created>
  <dcterms:modified xsi:type="dcterms:W3CDTF">2025-10-29T11:29:27Z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