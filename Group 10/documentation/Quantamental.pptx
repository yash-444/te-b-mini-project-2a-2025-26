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6" roundtripDataSignature="AMtx7mgDhj1imEdDRtxge7eEWn+XUu/G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4015A9-1408-4413-BB7A-34EEF8B23A8E}">
  <a:tblStyle styleId="{E34015A9-1408-4413-BB7A-34EEF8B23A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 rot="5400000">
            <a:off x="4234732" y="3026812"/>
            <a:ext cx="5788752" cy="107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 rot="5400000">
            <a:off x="641243" y="702770"/>
            <a:ext cx="5788752" cy="5727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 rot="5400000">
            <a:off x="2031206" y="1021556"/>
            <a:ext cx="4278312" cy="6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678930" y="671971"/>
            <a:ext cx="6991025" cy="333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type="title"/>
          </p:nvPr>
        </p:nvSpPr>
        <p:spPr>
          <a:xfrm>
            <a:off x="672040" y="2129659"/>
            <a:ext cx="6997915" cy="28610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" type="body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26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>
            <p:ph type="title"/>
          </p:nvPr>
        </p:nvSpPr>
        <p:spPr>
          <a:xfrm>
            <a:off x="672042" y="671971"/>
            <a:ext cx="6997914" cy="3751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" type="body"/>
          </p:nvPr>
        </p:nvSpPr>
        <p:spPr>
          <a:xfrm>
            <a:off x="672042" y="4927788"/>
            <a:ext cx="6997914" cy="1731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27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/>
          <p:nvPr>
            <p:ph type="title"/>
          </p:nvPr>
        </p:nvSpPr>
        <p:spPr>
          <a:xfrm>
            <a:off x="672041" y="5291772"/>
            <a:ext cx="6997914" cy="6247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46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/>
          <p:nvPr>
            <p:ph idx="2" type="pic"/>
          </p:nvPr>
        </p:nvSpPr>
        <p:spPr>
          <a:xfrm>
            <a:off x="672041" y="671971"/>
            <a:ext cx="6997914" cy="4239192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672041" y="5916496"/>
            <a:ext cx="6997914" cy="7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/>
        </p:txBody>
      </p:sp>
      <p:sp>
        <p:nvSpPr>
          <p:cNvPr id="67" name="Google Shape;67;p28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type="title"/>
          </p:nvPr>
        </p:nvSpPr>
        <p:spPr>
          <a:xfrm>
            <a:off x="672041" y="1651933"/>
            <a:ext cx="3075982" cy="1409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" type="body"/>
          </p:nvPr>
        </p:nvSpPr>
        <p:spPr>
          <a:xfrm>
            <a:off x="3937083" y="567610"/>
            <a:ext cx="3732871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2" type="body"/>
          </p:nvPr>
        </p:nvSpPr>
        <p:spPr>
          <a:xfrm>
            <a:off x="672041" y="3061205"/>
            <a:ext cx="3075982" cy="2848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/>
        </p:txBody>
      </p:sp>
      <p:sp>
        <p:nvSpPr>
          <p:cNvPr id="74" name="Google Shape;74;p29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type="title"/>
          </p:nvPr>
        </p:nvSpPr>
        <p:spPr>
          <a:xfrm>
            <a:off x="672041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2"/>
          <p:cNvSpPr txBox="1"/>
          <p:nvPr>
            <p:ph type="title"/>
          </p:nvPr>
        </p:nvSpPr>
        <p:spPr>
          <a:xfrm>
            <a:off x="672041" y="671971"/>
            <a:ext cx="6997913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672041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None/>
              <a:defRPr b="0" sz="2646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764"/>
              <a:buNone/>
              <a:defRPr b="1" sz="2205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b="1" sz="1984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9pPr>
          </a:lstStyle>
          <a:p/>
        </p:txBody>
      </p:sp>
      <p:sp>
        <p:nvSpPr>
          <p:cNvPr id="89" name="Google Shape;89;p32"/>
          <p:cNvSpPr txBox="1"/>
          <p:nvPr>
            <p:ph idx="2" type="body"/>
          </p:nvPr>
        </p:nvSpPr>
        <p:spPr>
          <a:xfrm>
            <a:off x="672041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3" type="body"/>
          </p:nvPr>
        </p:nvSpPr>
        <p:spPr>
          <a:xfrm>
            <a:off x="4262702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None/>
              <a:defRPr b="0" sz="2646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764"/>
              <a:buNone/>
              <a:defRPr b="1" sz="2205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b="1" sz="1984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9pPr>
          </a:lstStyle>
          <a:p/>
        </p:txBody>
      </p:sp>
      <p:sp>
        <p:nvSpPr>
          <p:cNvPr id="91" name="Google Shape;91;p32"/>
          <p:cNvSpPr txBox="1"/>
          <p:nvPr>
            <p:ph idx="4" type="body"/>
          </p:nvPr>
        </p:nvSpPr>
        <p:spPr>
          <a:xfrm>
            <a:off x="4262702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/>
          <p:nvPr>
            <p:ph type="title"/>
          </p:nvPr>
        </p:nvSpPr>
        <p:spPr>
          <a:xfrm>
            <a:off x="672042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" type="body"/>
          </p:nvPr>
        </p:nvSpPr>
        <p:spPr>
          <a:xfrm>
            <a:off x="672042" y="2381649"/>
            <a:ext cx="3404426" cy="4277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9387" lvl="0" marL="457200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indent="-318211" lvl="1" marL="914400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indent="-306984" lvl="2" marL="1371600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indent="-295808" lvl="3" marL="18288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indent="-295808" lvl="4" marL="22860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indent="-295808" lvl="5" marL="27432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indent="-295808" lvl="6" marL="32004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indent="-295808" lvl="7" marL="36576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indent="-295808" lvl="8" marL="41148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/>
        </p:txBody>
      </p:sp>
      <p:sp>
        <p:nvSpPr>
          <p:cNvPr id="98" name="Google Shape;98;p33"/>
          <p:cNvSpPr txBox="1"/>
          <p:nvPr>
            <p:ph idx="2" type="body"/>
          </p:nvPr>
        </p:nvSpPr>
        <p:spPr>
          <a:xfrm>
            <a:off x="4265529" y="2381651"/>
            <a:ext cx="3404427" cy="4277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9387" lvl="0" marL="457200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indent="-318211" lvl="1" marL="914400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indent="-306984" lvl="2" marL="1371600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indent="-295808" lvl="3" marL="18288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indent="-295808" lvl="4" marL="22860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indent="-295808" lvl="5" marL="27432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indent="-295808" lvl="6" marL="32004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indent="-295808" lvl="7" marL="36576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indent="-295808" lvl="8" marL="41148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/>
          <p:nvPr>
            <p:ph type="title"/>
          </p:nvPr>
        </p:nvSpPr>
        <p:spPr>
          <a:xfrm>
            <a:off x="672040" y="2977208"/>
            <a:ext cx="6997915" cy="201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409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" type="body"/>
          </p:nvPr>
        </p:nvSpPr>
        <p:spPr>
          <a:xfrm>
            <a:off x="672040" y="4990673"/>
            <a:ext cx="6997915" cy="948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4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9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" name="Google Shape;11;p19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9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" name="Google Shape;13;p19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" name="Google Shape;14;p19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9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9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9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9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9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9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39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39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1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0" name="Google Shape;110;p21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11" name="Google Shape;111;p21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2" name="Google Shape;112;p21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3" name="Google Shape;113;p21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20" name="Google Shape;120;p21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39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39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apers.ssrn.com/sol3/papers.cfm?abstract_id=3609896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/>
        </p:nvSpPr>
        <p:spPr>
          <a:xfrm>
            <a:off x="503237" y="1979612"/>
            <a:ext cx="9145587" cy="525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Quantamental - The Quant platform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Chitresh Poojary – 22107010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Gaurav Shetty – 23107127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Shlok Sawant – 23107142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Manish Sharma – 23107058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t/>
            </a:r>
            <a:endParaRPr b="1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.Richa Singh </a:t>
            </a:r>
            <a:endParaRPr/>
          </a:p>
        </p:txBody>
      </p:sp>
      <p:cxnSp>
        <p:nvCxnSpPr>
          <p:cNvPr id="137" name="Google Shape;137;p1"/>
          <p:cNvCxnSpPr/>
          <p:nvPr/>
        </p:nvCxnSpPr>
        <p:spPr>
          <a:xfrm>
            <a:off x="0" y="1743075"/>
            <a:ext cx="10080625" cy="0"/>
          </a:xfrm>
          <a:prstGeom prst="straightConnector1">
            <a:avLst/>
          </a:prstGeom>
          <a:noFill/>
          <a:ln cap="rnd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34901"/>
              </a:srgbClr>
            </a:outerShdw>
          </a:effectLst>
        </p:spPr>
      </p:cxnSp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0" y="146050"/>
            <a:ext cx="7686675" cy="1571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"/>
          <p:cNvGraphicFramePr/>
          <p:nvPr/>
        </p:nvGraphicFramePr>
        <p:xfrm>
          <a:off x="2303462" y="3132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{E34015A9-1408-4413-BB7A-34EEF8B23A8E}</a:tableStyleId>
              </a:tblPr>
              <a:tblGrid>
                <a:gridCol w="2369200"/>
                <a:gridCol w="37582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imes New Roman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 Member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Chitresh Poojary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22107010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CF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Gaurav Shetty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23107127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Shlok Sawant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C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23107142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CF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Manish Sharma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Times New Roman"/>
                        <a:buNone/>
                      </a:pPr>
                      <a:r>
                        <a:rPr b="0" i="0" lang="en-US" sz="1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23107058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504825" y="144462"/>
            <a:ext cx="9070975" cy="10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504825" y="1236662"/>
            <a:ext cx="9323387" cy="557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the existing systems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Development:</a:t>
            </a:r>
            <a:endParaRPr/>
          </a:p>
        </p:txBody>
      </p:sp>
      <p:sp>
        <p:nvSpPr>
          <p:cNvPr id="152" name="Google Shape;152;p3"/>
          <p:cNvSpPr txBox="1"/>
          <p:nvPr>
            <p:ph idx="1" type="body"/>
          </p:nvPr>
        </p:nvSpPr>
        <p:spPr>
          <a:xfrm>
            <a:off x="71437" y="1547812"/>
            <a:ext cx="9864600" cy="54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417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8: Decent Work and Economic Growth</a:t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financial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literacy by simplifying access to quantitative and fundamental analysis.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better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for individuals and small investors.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Empowers users to make informed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investment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decisions, contributing to sustainable economic growth.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entrepreneurship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independence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lowering barriers to advanced investing tools.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SDG 9: Industry, Innovation, and Infrastructure</a:t>
            </a:r>
            <a:endParaRPr b="0" i="0" sz="20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AI-driven insights, stock dashboards, and portfolio tracking in one unified platform.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fintech innovation by combining machine learning, real-time data, and explainability.</a:t>
            </a:r>
            <a:endParaRPr sz="2000"/>
          </a:p>
          <a:p>
            <a:pPr indent="-38417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2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Strengthens digital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</a:t>
            </a: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that can scale from individuals to businesses.</a:t>
            </a:r>
            <a:endParaRPr sz="2000"/>
          </a:p>
          <a:p>
            <a:pPr indent="-281305" lvl="0" marL="377825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1900" u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Times New Roman"/>
              <a:buNone/>
            </a:pPr>
            <a:r>
              <a:rPr b="1" i="0" lang="en-US" sz="39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58" name="Google Shape;158;p4"/>
          <p:cNvSpPr txBox="1"/>
          <p:nvPr>
            <p:ph idx="1" type="body"/>
          </p:nvPr>
        </p:nvSpPr>
        <p:spPr>
          <a:xfrm>
            <a:off x="671512" y="1474787"/>
            <a:ext cx="90487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"/>
              <a:buChar char="•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dynamic financial world, investors need speed</a:t>
            </a: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personalization in decision-making.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"/>
              <a:buChar char="•"/>
            </a:pP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Quantamental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revolutionizes investing by integrating:</a:t>
            </a:r>
            <a:endParaRPr/>
          </a:p>
          <a:p>
            <a:pPr indent="-314324" lvl="1" marL="817562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analysis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driven models, indicators, and trends</a:t>
            </a:r>
            <a:endParaRPr/>
          </a:p>
          <a:p>
            <a:pPr indent="-314324" lvl="1" marL="817562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research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inancial statements, industry outlooks, and market news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"/>
              <a:buChar char="•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innovative stock analysis and recommendation system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offering:</a:t>
            </a:r>
            <a:endParaRPr/>
          </a:p>
          <a:p>
            <a:pPr indent="-314324" lvl="1" marL="817562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market data</a:t>
            </a:r>
            <a:endParaRPr/>
          </a:p>
          <a:p>
            <a:pPr indent="-314324" lvl="1" marL="817562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CLI for stock price &amp; indicator tracking</a:t>
            </a:r>
            <a:endParaRPr/>
          </a:p>
          <a:p>
            <a:pPr indent="-314324" lvl="1" marL="817562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2000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personalized insights (based on age, holdings, and risk profile)</a:t>
            </a:r>
            <a:endParaRPr/>
          </a:p>
          <a:p>
            <a:pPr indent="-377825" lvl="0" marL="377825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Arial"/>
              <a:buChar char="•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</a:t>
            </a:r>
            <a:r>
              <a:rPr b="1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learning, sentiment analysis, and mathematical models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generate reliable and explainable recommendations.</a:t>
            </a:r>
            <a:endParaRPr/>
          </a:p>
          <a:p>
            <a:pPr indent="-276225" lvl="0" marL="377825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/>
        </p:nvSpPr>
        <p:spPr>
          <a:xfrm>
            <a:off x="503275" y="151750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412825" y="1413849"/>
            <a:ext cx="9252000" cy="59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1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endParaRPr/>
          </a:p>
          <a:p>
            <a:pPr indent="-317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a  platform that combines quantitative analysis and fundamental research for smarter investment decision making.</a:t>
            </a:r>
            <a:endParaRPr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assist users in constructing and managing optimized investment portfolios using machine learning algorithms like LSTM , Bollinger bands and Moving averages with market data support from yfinance.</a:t>
            </a:r>
            <a:endParaRPr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simplify financial research by aggregating news, analysis, mathematical tools, recommendation system and chatbot-based advisory support in one unified interface.</a:t>
            </a:r>
            <a:endParaRPr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integrate real-time market data and predictive analytics to help users make timely, data-driven investment decisions with greater precision and confidence.</a:t>
            </a:r>
            <a:endParaRPr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 of the existing system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03237" y="1763712"/>
            <a:ext cx="9070975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73" name="Google Shape;173;p6"/>
          <p:cNvGraphicFramePr/>
          <p:nvPr/>
        </p:nvGraphicFramePr>
        <p:xfrm>
          <a:off x="144462" y="140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{E34015A9-1408-4413-BB7A-34EEF8B23A8E}</a:tableStyleId>
              </a:tblPr>
              <a:tblGrid>
                <a:gridCol w="557200"/>
                <a:gridCol w="1746250"/>
                <a:gridCol w="1008050"/>
                <a:gridCol w="647700"/>
                <a:gridCol w="1885950"/>
                <a:gridCol w="2193925"/>
                <a:gridCol w="1752600"/>
              </a:tblGrid>
              <a:tr h="116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Author(s)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Year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Outcome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Methodology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Result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Embracing Fundamental and Quant Investing in Emerging Markets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Robeco Research Team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Showed industry adoption of quantamental investing in emerging markets.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Combination of factor models (value, momentum) with fundamental analyst overlays.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Demonstrated that blending quant + fundamental improved stock selection in emerging markets, but methodology was proprietary and not reproducible academically.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 of the existing system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503237" y="1763712"/>
            <a:ext cx="9070975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81" name="Google Shape;181;p7"/>
          <p:cNvGraphicFramePr/>
          <p:nvPr/>
        </p:nvGraphicFramePr>
        <p:xfrm>
          <a:off x="144462" y="140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{E34015A9-1408-4413-BB7A-34EEF8B23A8E}</a:tableStyleId>
              </a:tblPr>
              <a:tblGrid>
                <a:gridCol w="557200"/>
                <a:gridCol w="1746250"/>
                <a:gridCol w="1008050"/>
                <a:gridCol w="647700"/>
                <a:gridCol w="1800225"/>
                <a:gridCol w="1800225"/>
                <a:gridCol w="2232025"/>
              </a:tblGrid>
              <a:tr h="617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Title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Author(s)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Year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Outcome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Methodology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Result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Quant 4.0: Engineering Quantitative Investment with Automated, Explainable and Knowledge-driven AI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Jian Guo, Shum H-Y., et al.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Proposed a new paradigm, </a:t>
                      </a:r>
                      <a:r>
                        <a:rPr b="0" i="1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Quant 4.0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to move beyond traditional quantamental by embedding explainability, automation, and domain knowledge into investment models.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Applied </a:t>
                      </a: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Explainable AI</a:t>
                      </a: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(XAI)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tools (e.g., SHAP, LIME), </a:t>
                      </a: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knowledge graphs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and automated model pipelines. Emphasized governance and transparency in model outputs.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Showed that adding knowledge-driven AI and explainability improved </a:t>
                      </a: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trust and interpretability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of quant models. Noted that large-scale real-world deployment was still </a:t>
                      </a: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unproven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leaving room for practical validation.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Quantamental Investing: A Machine Learning Investment Process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Gattaiah Tadoori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rebuchet MS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Proposed an ML driven quantamental process integrating AI insights with human judgment.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Built a quantamental pipeline with data collection, feature engineering, ML models, and portfolio optimization, validated via cross-validation.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ML-based quantamental strategies outperformed standalone factor models but lacked explainability, limiting trust.</a:t>
                      </a:r>
                      <a:endParaRPr sz="16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rebuchet MS"/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Limitations of existing systems 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360362" y="1768475"/>
            <a:ext cx="8783700" cy="5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Platforms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Existing tools often separate price data, portfolio tracking, and financial news across  multiple platforms.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integrates all into a single solution (real-time data + CLI + news + 	AI).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Real-Time Deployment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Many academic models remain at theoretical/backtest level, without live 	usability.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offers a </a:t>
            </a:r>
            <a:r>
              <a:rPr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CLI and web app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real-time API data.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Cost &amp; Limited Accessibility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Professional platforms (Bloomberg, Refinitiv) are too expensive for individuals and small firms.Quantamental provides an affordable, accessible, and easy-to-use alternative.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type="title"/>
          </p:nvPr>
        </p:nvSpPr>
        <p:spPr>
          <a:xfrm>
            <a:off x="144462" y="395287"/>
            <a:ext cx="7524750" cy="72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</p:txBody>
      </p:sp>
      <p:sp>
        <p:nvSpPr>
          <p:cNvPr id="195" name="Google Shape;195;p9"/>
          <p:cNvSpPr txBox="1"/>
          <p:nvPr>
            <p:ph idx="1" type="body"/>
          </p:nvPr>
        </p:nvSpPr>
        <p:spPr>
          <a:xfrm>
            <a:off x="144462" y="1614487"/>
            <a:ext cx="8783700" cy="39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investing requires combining quantitative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(data models, indicators, and trends) with fundamental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(financial statements, industry outlooks, and news).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Investors currently face fragmented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 one for stock prices, another for portfolio tracking, and yet another for financial news leading to inefficiency and missed insights.</a:t>
            </a:r>
            <a:endParaRPr sz="20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professional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 (e.g., Bloomberg, Refinitiv) provide comprehensive solutions but are</a:t>
            </a:r>
            <a:r>
              <a:rPr lang="en-US" sz="2000"/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xtremely expensive (thousands of dollars annually)</a:t>
            </a:r>
            <a:r>
              <a:rPr lang="en-US" sz="2000"/>
              <a:t> .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to use, designed primarily for institutional investors</a:t>
            </a:r>
            <a:endParaRPr sz="2000"/>
          </a:p>
          <a:p>
            <a:pPr indent="-255905" lvl="0" marL="377825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287337" y="1731962"/>
            <a:ext cx="89296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4" name="Google Shape;20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50" y="2721465"/>
            <a:ext cx="9574324" cy="254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 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393700" y="1835150"/>
            <a:ext cx="9180512" cy="560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Stack: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Go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management, business logic, and real-time data processing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 Tools: Rust command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stock/cr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ypto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prices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TypeScript (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Nextjs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interactive and responsive user interface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ML/Analytics : Python for advanced predictions and trend analysis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 Scripts: Bash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running scripts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/>
        </p:nvSpPr>
        <p:spPr>
          <a:xfrm>
            <a:off x="503237" y="292100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357187" y="1296987"/>
            <a:ext cx="936307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Landing Page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75" y="1943100"/>
            <a:ext cx="8999537" cy="48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/>
          <p:nvPr>
            <p:ph type="title"/>
          </p:nvPr>
        </p:nvSpPr>
        <p:spPr>
          <a:xfrm>
            <a:off x="652462" y="6842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E22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161E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DASHBOARD:</a:t>
            </a:r>
            <a:br>
              <a:rPr b="0" i="0" lang="en-US" sz="3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/>
          </a:p>
        </p:txBody>
      </p:sp>
      <p:pic>
        <p:nvPicPr>
          <p:cNvPr id="226" name="Google Shape;22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25" y="1630350"/>
            <a:ext cx="9274500" cy="30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431800" y="671512"/>
            <a:ext cx="7237412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Lysa-ai services</a:t>
            </a:r>
            <a:endParaRPr/>
          </a:p>
        </p:txBody>
      </p:sp>
      <p:pic>
        <p:nvPicPr>
          <p:cNvPr id="232" name="Google Shape;23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00" y="1619250"/>
            <a:ext cx="8894762" cy="508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 TOOLS</a:t>
            </a:r>
            <a:endParaRPr/>
          </a:p>
        </p:txBody>
      </p:sp>
      <p:sp>
        <p:nvSpPr>
          <p:cNvPr id="238" name="Google Shape;238;p15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1305" lvl="0" marL="377825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1900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9" name="Google Shape;239;p15" title="Screenshot from 2025-10-03 15-47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75" y="1536400"/>
            <a:ext cx="9525874" cy="488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611187" y="1763712"/>
            <a:ext cx="8855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Quantamental offers a unified financial platform to overcome fragmentation.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dashboards , portfolio management , news aggregation in one tool.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full project with deployment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 flipH="1">
            <a:off x="503224" y="1779587"/>
            <a:ext cx="9361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Tadoori, G. (2020).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Quantamental Investing: A Machine Learning Investment Process.</a:t>
            </a:r>
            <a:b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SSRN. Available at: </a:t>
            </a:r>
            <a:r>
              <a:rPr b="0" i="0" lang="en-US" sz="24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https://papers.ssrn.com/sol3/papers.cfm?abstract_id=3609896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Guo, J., Wang, S., Ni, L. M., &amp; Shum, H.-Y. (2022).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 4.0: Engineering Quantitative Investment with Automated, Explainable and Knowledge-driven AI.</a:t>
            </a:r>
            <a:b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Frontiers of Information Technology &amp; Electronic Engineering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23(12), 1703–1718. doi:10.1631/FITEE.2200160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Robeco Research Team. (2024).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Embracing Fundamental and Quant Investing in Emerging Markets.</a:t>
            </a:r>
            <a:b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Robeco Industry White Paper. Available at: https://www.robeco.com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647700" y="30575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2017-10-25T08:22:14Z</dcterms:created>
  <dc:creator>v 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AppVersion">
    <vt:lpstr>12.0000</vt:lp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str>Custom</vt:lp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6</vt:i4>
  </property>
</Properties>
</file>