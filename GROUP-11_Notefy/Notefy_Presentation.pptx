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79" r:id="rId7"/>
    <p:sldId id="278" r:id="rId8"/>
    <p:sldId id="264" r:id="rId9"/>
    <p:sldId id="265" r:id="rId10"/>
    <p:sldId id="266" r:id="rId11"/>
    <p:sldId id="267" r:id="rId12"/>
    <p:sldId id="281" r:id="rId13"/>
    <p:sldId id="275" r:id="rId14"/>
    <p:sldId id="269" r:id="rId15"/>
    <p:sldId id="270" r:id="rId16"/>
    <p:sldId id="271" r:id="rId17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3203" autoAdjust="0"/>
  </p:normalViewPr>
  <p:slideViewPr>
    <p:cSldViewPr>
      <p:cViewPr varScale="1">
        <p:scale>
          <a:sx n="77" d="100"/>
          <a:sy n="77" d="100"/>
        </p:scale>
        <p:origin x="17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343375"/>
            <a:ext cx="476884" cy="2972435"/>
          </a:xfrm>
          <a:custGeom>
            <a:avLst/>
            <a:gdLst/>
            <a:ahLst/>
            <a:cxnLst/>
            <a:rect l="l" t="t" r="r" b="b"/>
            <a:pathLst>
              <a:path w="476884" h="2972434">
                <a:moveTo>
                  <a:pt x="476609" y="2971823"/>
                </a:moveTo>
                <a:lnTo>
                  <a:pt x="0" y="2971823"/>
                </a:lnTo>
                <a:lnTo>
                  <a:pt x="0" y="0"/>
                </a:lnTo>
                <a:lnTo>
                  <a:pt x="476609" y="2971823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489798" y="0"/>
            <a:ext cx="4264025" cy="7315200"/>
          </a:xfrm>
          <a:custGeom>
            <a:avLst/>
            <a:gdLst/>
            <a:ahLst/>
            <a:cxnLst/>
            <a:rect l="l" t="t" r="r" b="b"/>
            <a:pathLst>
              <a:path w="4264025" h="7315200">
                <a:moveTo>
                  <a:pt x="0" y="7315199"/>
                </a:moveTo>
                <a:lnTo>
                  <a:pt x="4263800" y="4469647"/>
                </a:lnTo>
              </a:path>
              <a:path w="4264025" h="7315200">
                <a:moveTo>
                  <a:pt x="2028885" y="0"/>
                </a:moveTo>
                <a:lnTo>
                  <a:pt x="3327506" y="7315199"/>
                </a:lnTo>
              </a:path>
            </a:pathLst>
          </a:custGeom>
          <a:ln w="9524">
            <a:solidFill>
              <a:srgbClr val="5ECB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361232" y="0"/>
            <a:ext cx="2392680" cy="7315200"/>
          </a:xfrm>
          <a:custGeom>
            <a:avLst/>
            <a:gdLst/>
            <a:ahLst/>
            <a:cxnLst/>
            <a:rect l="l" t="t" r="r" b="b"/>
            <a:pathLst>
              <a:path w="2392679" h="7315200">
                <a:moveTo>
                  <a:pt x="2392366" y="7315199"/>
                </a:moveTo>
                <a:lnTo>
                  <a:pt x="0" y="7315199"/>
                </a:lnTo>
                <a:lnTo>
                  <a:pt x="2157114" y="0"/>
                </a:lnTo>
                <a:lnTo>
                  <a:pt x="2392366" y="8484"/>
                </a:lnTo>
                <a:lnTo>
                  <a:pt x="2392366" y="7315199"/>
                </a:lnTo>
                <a:close/>
              </a:path>
            </a:pathLst>
          </a:custGeom>
          <a:solidFill>
            <a:srgbClr val="5ECBEF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93378" y="0"/>
            <a:ext cx="2060575" cy="7315200"/>
          </a:xfrm>
          <a:custGeom>
            <a:avLst/>
            <a:gdLst/>
            <a:ahLst/>
            <a:cxnLst/>
            <a:rect l="l" t="t" r="r" b="b"/>
            <a:pathLst>
              <a:path w="2060575" h="7315200">
                <a:moveTo>
                  <a:pt x="2060221" y="7315199"/>
                </a:moveTo>
                <a:lnTo>
                  <a:pt x="1280225" y="7315199"/>
                </a:lnTo>
                <a:lnTo>
                  <a:pt x="0" y="0"/>
                </a:lnTo>
                <a:lnTo>
                  <a:pt x="2060221" y="0"/>
                </a:lnTo>
                <a:lnTo>
                  <a:pt x="2060221" y="7315199"/>
                </a:lnTo>
                <a:close/>
              </a:path>
            </a:pathLst>
          </a:custGeom>
          <a:solidFill>
            <a:srgbClr val="5ECBE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096375" y="4198853"/>
            <a:ext cx="2657475" cy="3116580"/>
          </a:xfrm>
          <a:custGeom>
            <a:avLst/>
            <a:gdLst/>
            <a:ahLst/>
            <a:cxnLst/>
            <a:rect l="l" t="t" r="r" b="b"/>
            <a:pathLst>
              <a:path w="2657475" h="3116579">
                <a:moveTo>
                  <a:pt x="2657223" y="3116345"/>
                </a:moveTo>
                <a:lnTo>
                  <a:pt x="0" y="3116345"/>
                </a:lnTo>
                <a:lnTo>
                  <a:pt x="2657223" y="0"/>
                </a:lnTo>
                <a:lnTo>
                  <a:pt x="2657223" y="3116345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86762" y="0"/>
            <a:ext cx="2266950" cy="7315200"/>
          </a:xfrm>
          <a:custGeom>
            <a:avLst/>
            <a:gdLst/>
            <a:ahLst/>
            <a:cxnLst/>
            <a:rect l="l" t="t" r="r" b="b"/>
            <a:pathLst>
              <a:path w="2266950" h="7315200">
                <a:moveTo>
                  <a:pt x="2266836" y="7315199"/>
                </a:moveTo>
                <a:lnTo>
                  <a:pt x="1976795" y="7315199"/>
                </a:lnTo>
                <a:lnTo>
                  <a:pt x="0" y="0"/>
                </a:lnTo>
                <a:lnTo>
                  <a:pt x="2266836" y="0"/>
                </a:lnTo>
                <a:lnTo>
                  <a:pt x="2266836" y="7315199"/>
                </a:lnTo>
                <a:close/>
              </a:path>
            </a:pathLst>
          </a:custGeom>
          <a:solidFill>
            <a:srgbClr val="17B0E3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858272" y="0"/>
            <a:ext cx="895350" cy="7315200"/>
          </a:xfrm>
          <a:custGeom>
            <a:avLst/>
            <a:gdLst/>
            <a:ahLst/>
            <a:cxnLst/>
            <a:rect l="l" t="t" r="r" b="b"/>
            <a:pathLst>
              <a:path w="895350" h="7315200">
                <a:moveTo>
                  <a:pt x="895327" y="7315199"/>
                </a:moveTo>
                <a:lnTo>
                  <a:pt x="0" y="7315199"/>
                </a:lnTo>
                <a:lnTo>
                  <a:pt x="720121" y="0"/>
                </a:lnTo>
                <a:lnTo>
                  <a:pt x="895327" y="0"/>
                </a:lnTo>
                <a:lnTo>
                  <a:pt x="895327" y="7315199"/>
                </a:lnTo>
                <a:close/>
              </a:path>
            </a:pathLst>
          </a:custGeom>
          <a:solidFill>
            <a:srgbClr val="2E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643109" y="0"/>
            <a:ext cx="1110615" cy="7315200"/>
          </a:xfrm>
          <a:custGeom>
            <a:avLst/>
            <a:gdLst/>
            <a:ahLst/>
            <a:cxnLst/>
            <a:rect l="l" t="t" r="r" b="b"/>
            <a:pathLst>
              <a:path w="1110615" h="7315200">
                <a:moveTo>
                  <a:pt x="1110489" y="7315199"/>
                </a:moveTo>
                <a:lnTo>
                  <a:pt x="999508" y="7315199"/>
                </a:lnTo>
                <a:lnTo>
                  <a:pt x="0" y="0"/>
                </a:lnTo>
                <a:lnTo>
                  <a:pt x="1110489" y="0"/>
                </a:lnTo>
                <a:lnTo>
                  <a:pt x="1110489" y="7315199"/>
                </a:lnTo>
                <a:close/>
              </a:path>
            </a:pathLst>
          </a:custGeom>
          <a:solidFill>
            <a:srgbClr val="236191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620000" y="5269801"/>
            <a:ext cx="1134110" cy="2045970"/>
          </a:xfrm>
          <a:custGeom>
            <a:avLst/>
            <a:gdLst/>
            <a:ahLst/>
            <a:cxnLst/>
            <a:rect l="l" t="t" r="r" b="b"/>
            <a:pathLst>
              <a:path w="1134109" h="2045970">
                <a:moveTo>
                  <a:pt x="1133599" y="2045397"/>
                </a:moveTo>
                <a:lnTo>
                  <a:pt x="0" y="2045397"/>
                </a:lnTo>
                <a:lnTo>
                  <a:pt x="1133599" y="0"/>
                </a:lnTo>
                <a:lnTo>
                  <a:pt x="1133599" y="2045397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867" y="531973"/>
            <a:ext cx="8714105" cy="6083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328" y="1493585"/>
            <a:ext cx="8691245" cy="3568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inraffel.com/projects/lmd/" TargetMode="Externa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.jpeg" /><Relationship Id="rId4" Type="http://schemas.openxmlformats.org/officeDocument/2006/relationships/image" Target="../media/image6.jpeg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URL:-" TargetMode="Externa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057400"/>
            <a:ext cx="7924800" cy="5482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NOTEFY – Companion for your music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443268" y="3062444"/>
            <a:ext cx="4758055" cy="93599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439"/>
              </a:spcBef>
              <a:tabLst>
                <a:tab pos="2940685" algn="l"/>
              </a:tabLst>
            </a:pPr>
            <a:r>
              <a:rPr sz="3100" b="1" spc="-160" dirty="0">
                <a:latin typeface="Times New Roman"/>
                <a:cs typeface="Times New Roman"/>
              </a:rPr>
              <a:t>Arjun</a:t>
            </a:r>
            <a:r>
              <a:rPr sz="3100" b="1" spc="-25" dirty="0">
                <a:latin typeface="Times New Roman"/>
                <a:cs typeface="Times New Roman"/>
              </a:rPr>
              <a:t> </a:t>
            </a:r>
            <a:r>
              <a:rPr sz="3100" b="1" spc="-10" dirty="0">
                <a:latin typeface="Times New Roman"/>
                <a:cs typeface="Times New Roman"/>
              </a:rPr>
              <a:t>Talekar</a:t>
            </a:r>
            <a:r>
              <a:rPr sz="3100" b="1" dirty="0">
                <a:latin typeface="Times New Roman"/>
                <a:cs typeface="Times New Roman"/>
              </a:rPr>
              <a:t>	-</a:t>
            </a:r>
            <a:r>
              <a:rPr sz="3100" b="1" spc="-20" dirty="0">
                <a:latin typeface="Times New Roman"/>
                <a:cs typeface="Times New Roman"/>
              </a:rPr>
              <a:t> </a:t>
            </a:r>
            <a:r>
              <a:rPr sz="3100" b="1" spc="-10" dirty="0">
                <a:latin typeface="Times New Roman"/>
                <a:cs typeface="Times New Roman"/>
              </a:rPr>
              <a:t>23107005 </a:t>
            </a:r>
            <a:r>
              <a:rPr sz="3100" b="1" spc="-50" dirty="0">
                <a:latin typeface="Times New Roman"/>
                <a:cs typeface="Times New Roman"/>
              </a:rPr>
              <a:t>Shrikant</a:t>
            </a:r>
            <a:r>
              <a:rPr sz="3100" b="1" spc="-75" dirty="0">
                <a:latin typeface="Times New Roman"/>
                <a:cs typeface="Times New Roman"/>
              </a:rPr>
              <a:t> </a:t>
            </a:r>
            <a:r>
              <a:rPr sz="3100" b="1" spc="-90" dirty="0">
                <a:latin typeface="Times New Roman"/>
                <a:cs typeface="Times New Roman"/>
              </a:rPr>
              <a:t>Thakur</a:t>
            </a:r>
            <a:r>
              <a:rPr sz="3100" b="1" spc="-70" dirty="0">
                <a:latin typeface="Times New Roman"/>
                <a:cs typeface="Times New Roman"/>
              </a:rPr>
              <a:t> </a:t>
            </a:r>
            <a:r>
              <a:rPr sz="3100" b="1" dirty="0">
                <a:latin typeface="Times New Roman"/>
                <a:cs typeface="Times New Roman"/>
              </a:rPr>
              <a:t>-</a:t>
            </a:r>
            <a:r>
              <a:rPr sz="3100" b="1" spc="-75" dirty="0">
                <a:latin typeface="Times New Roman"/>
                <a:cs typeface="Times New Roman"/>
              </a:rPr>
              <a:t> </a:t>
            </a:r>
            <a:r>
              <a:rPr sz="3100" b="1" spc="-10" dirty="0">
                <a:latin typeface="Times New Roman"/>
                <a:cs typeface="Times New Roman"/>
              </a:rPr>
              <a:t>23107045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3268" y="3938744"/>
            <a:ext cx="2543810" cy="93599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439"/>
              </a:spcBef>
            </a:pPr>
            <a:r>
              <a:rPr sz="3100" b="1" spc="-20" dirty="0">
                <a:latin typeface="Times New Roman"/>
                <a:cs typeface="Times New Roman"/>
              </a:rPr>
              <a:t>Parth</a:t>
            </a:r>
            <a:r>
              <a:rPr sz="3100" b="1" spc="-145" dirty="0">
                <a:latin typeface="Times New Roman"/>
                <a:cs typeface="Times New Roman"/>
              </a:rPr>
              <a:t> </a:t>
            </a:r>
            <a:r>
              <a:rPr sz="3100" b="1" spc="-20" dirty="0">
                <a:latin typeface="Times New Roman"/>
                <a:cs typeface="Times New Roman"/>
              </a:rPr>
              <a:t>Pawar </a:t>
            </a:r>
            <a:r>
              <a:rPr sz="3100" b="1" spc="-80" dirty="0">
                <a:latin typeface="Times New Roman"/>
                <a:cs typeface="Times New Roman"/>
              </a:rPr>
              <a:t>Ranjana </a:t>
            </a:r>
            <a:r>
              <a:rPr sz="3100" b="1" spc="-75" dirty="0">
                <a:latin typeface="Times New Roman"/>
                <a:cs typeface="Times New Roman"/>
              </a:rPr>
              <a:t>Yadav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8421" y="3938744"/>
            <a:ext cx="184658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85"/>
              </a:lnSpc>
              <a:spcBef>
                <a:spcPts val="100"/>
              </a:spcBef>
            </a:pPr>
            <a:r>
              <a:rPr sz="3100" b="1" dirty="0">
                <a:latin typeface="Times New Roman"/>
                <a:cs typeface="Times New Roman"/>
              </a:rPr>
              <a:t>-</a:t>
            </a:r>
            <a:r>
              <a:rPr sz="3100" b="1" spc="-20" dirty="0">
                <a:latin typeface="Times New Roman"/>
                <a:cs typeface="Times New Roman"/>
              </a:rPr>
              <a:t> </a:t>
            </a:r>
            <a:r>
              <a:rPr sz="3100" b="1" spc="-10" dirty="0">
                <a:latin typeface="Times New Roman"/>
                <a:cs typeface="Times New Roman"/>
              </a:rPr>
              <a:t>23107048</a:t>
            </a:r>
            <a:endParaRPr sz="3100">
              <a:latin typeface="Times New Roman"/>
              <a:cs typeface="Times New Roman"/>
            </a:endParaRPr>
          </a:p>
          <a:p>
            <a:pPr marL="29209">
              <a:lnSpc>
                <a:spcPts val="3585"/>
              </a:lnSpc>
            </a:pPr>
            <a:r>
              <a:rPr sz="3100" b="1" dirty="0">
                <a:latin typeface="Times New Roman"/>
                <a:cs typeface="Times New Roman"/>
              </a:rPr>
              <a:t>-</a:t>
            </a:r>
            <a:r>
              <a:rPr sz="3100" b="1" spc="-20" dirty="0">
                <a:latin typeface="Times New Roman"/>
                <a:cs typeface="Times New Roman"/>
              </a:rPr>
              <a:t> </a:t>
            </a:r>
            <a:r>
              <a:rPr sz="3100" b="1" spc="-10" dirty="0">
                <a:latin typeface="Times New Roman"/>
                <a:cs typeface="Times New Roman"/>
              </a:rPr>
              <a:t>23107059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6482" y="5692963"/>
            <a:ext cx="2009775" cy="772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110"/>
              </a:spcBef>
            </a:pPr>
            <a:r>
              <a:rPr sz="2700" b="1" spc="-20" dirty="0">
                <a:latin typeface="Times New Roman"/>
                <a:cs typeface="Times New Roman"/>
              </a:rPr>
              <a:t>Project</a:t>
            </a:r>
            <a:r>
              <a:rPr sz="2700" b="1" spc="-120" dirty="0">
                <a:latin typeface="Times New Roman"/>
                <a:cs typeface="Times New Roman"/>
              </a:rPr>
              <a:t> </a:t>
            </a:r>
            <a:r>
              <a:rPr sz="2700" b="1" spc="-45" dirty="0">
                <a:latin typeface="Times New Roman"/>
                <a:cs typeface="Times New Roman"/>
              </a:rPr>
              <a:t>Guide</a:t>
            </a:r>
            <a:endParaRPr sz="2700">
              <a:latin typeface="Times New Roman"/>
              <a:cs typeface="Times New Roman"/>
            </a:endParaRPr>
          </a:p>
          <a:p>
            <a:pPr marL="32384">
              <a:lnSpc>
                <a:spcPts val="2690"/>
              </a:lnSpc>
            </a:pPr>
            <a:r>
              <a:rPr sz="2300" b="1" spc="50" dirty="0">
                <a:latin typeface="Times New Roman"/>
                <a:cs typeface="Times New Roman"/>
              </a:rPr>
              <a:t>Ms.</a:t>
            </a:r>
            <a:r>
              <a:rPr sz="2300" b="1" spc="-1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Dipali</a:t>
            </a:r>
            <a:r>
              <a:rPr sz="2300" b="1" spc="-5" dirty="0">
                <a:latin typeface="Times New Roman"/>
                <a:cs typeface="Times New Roman"/>
              </a:rPr>
              <a:t> </a:t>
            </a:r>
            <a:r>
              <a:rPr sz="2300" b="1" spc="-25" dirty="0">
                <a:latin typeface="Times New Roman"/>
                <a:cs typeface="Times New Roman"/>
              </a:rPr>
              <a:t>Gat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41596"/>
            <a:ext cx="9753600" cy="1559560"/>
            <a:chOff x="0" y="141596"/>
            <a:chExt cx="9753600" cy="1559560"/>
          </a:xfrm>
        </p:grpSpPr>
        <p:sp>
          <p:nvSpPr>
            <p:cNvPr id="8" name="object 8"/>
            <p:cNvSpPr/>
            <p:nvPr/>
          </p:nvSpPr>
          <p:spPr>
            <a:xfrm>
              <a:off x="0" y="1676318"/>
              <a:ext cx="9753600" cy="24765"/>
            </a:xfrm>
            <a:custGeom>
              <a:avLst/>
              <a:gdLst/>
              <a:ahLst/>
              <a:cxnLst/>
              <a:rect l="l" t="t" r="r" b="b"/>
              <a:pathLst>
                <a:path w="9753600" h="24764">
                  <a:moveTo>
                    <a:pt x="9753599" y="24764"/>
                  </a:moveTo>
                  <a:lnTo>
                    <a:pt x="0" y="24764"/>
                  </a:lnTo>
                  <a:lnTo>
                    <a:pt x="0" y="0"/>
                  </a:lnTo>
                  <a:lnTo>
                    <a:pt x="9753599" y="0"/>
                  </a:lnTo>
                  <a:lnTo>
                    <a:pt x="9753599" y="24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5933" y="141596"/>
              <a:ext cx="7445194" cy="15219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5534" y="274790"/>
            <a:ext cx="1414780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1359247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2648" y="1015077"/>
            <a:ext cx="5433695" cy="474027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300" spc="-10" dirty="0">
                <a:latin typeface="Trebuchet MS"/>
                <a:cs typeface="Trebuchet MS"/>
              </a:rPr>
              <a:t>Introduction</a:t>
            </a:r>
            <a:endParaRPr sz="2300" dirty="0">
              <a:latin typeface="Trebuchet MS"/>
              <a:cs typeface="Trebuchet MS"/>
            </a:endParaRPr>
          </a:p>
          <a:p>
            <a:pPr marL="12700" marR="5080">
              <a:lnSpc>
                <a:spcPts val="4130"/>
              </a:lnSpc>
              <a:spcBef>
                <a:spcPts val="360"/>
              </a:spcBef>
            </a:pPr>
            <a:r>
              <a:rPr sz="2300" dirty="0">
                <a:latin typeface="Trebuchet MS"/>
                <a:cs typeface="Trebuchet MS"/>
              </a:rPr>
              <a:t>Literature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Survey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existing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systems </a:t>
            </a:r>
            <a:r>
              <a:rPr sz="2300" dirty="0">
                <a:latin typeface="Trebuchet MS"/>
                <a:cs typeface="Trebuchet MS"/>
              </a:rPr>
              <a:t>Limitations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existing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systems </a:t>
            </a:r>
            <a:r>
              <a:rPr sz="2300" dirty="0">
                <a:latin typeface="Trebuchet MS"/>
                <a:cs typeface="Trebuchet MS"/>
              </a:rPr>
              <a:t>Problem</a:t>
            </a:r>
            <a:r>
              <a:rPr sz="2300" spc="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statement</a:t>
            </a:r>
            <a:endParaRPr sz="2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300" dirty="0">
                <a:latin typeface="Trebuchet MS"/>
                <a:cs typeface="Trebuchet MS"/>
              </a:rPr>
              <a:t>System</a:t>
            </a:r>
            <a:r>
              <a:rPr sz="2300" spc="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Design</a:t>
            </a:r>
            <a:endParaRPr sz="2300" dirty="0">
              <a:latin typeface="Trebuchet MS"/>
              <a:cs typeface="Trebuchet MS"/>
            </a:endParaRPr>
          </a:p>
          <a:p>
            <a:pPr marL="12700" marR="1111250">
              <a:lnSpc>
                <a:spcPts val="4120"/>
              </a:lnSpc>
              <a:spcBef>
                <a:spcPts val="370"/>
              </a:spcBef>
            </a:pPr>
            <a:r>
              <a:rPr sz="2300" dirty="0">
                <a:latin typeface="Trebuchet MS"/>
                <a:cs typeface="Trebuchet MS"/>
              </a:rPr>
              <a:t>Technologies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methodologies Implementation</a:t>
            </a:r>
            <a:endParaRPr sz="2300" dirty="0">
              <a:latin typeface="Trebuchet MS"/>
              <a:cs typeface="Trebuchet MS"/>
            </a:endParaRPr>
          </a:p>
          <a:p>
            <a:pPr marL="12700" marR="3945890">
              <a:lnSpc>
                <a:spcPts val="4130"/>
              </a:lnSpc>
            </a:pPr>
            <a:r>
              <a:rPr sz="2300" spc="-10" dirty="0">
                <a:latin typeface="Trebuchet MS"/>
                <a:cs typeface="Trebuchet MS"/>
              </a:rPr>
              <a:t>Conclusion References</a:t>
            </a:r>
            <a:endParaRPr sz="23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1883122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2406997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2930872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3454747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397862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4502497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5026372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12" y="5550247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Sustainable</a:t>
            </a:r>
            <a:r>
              <a:rPr spc="-85" dirty="0"/>
              <a:t> </a:t>
            </a:r>
            <a:r>
              <a:rPr spc="-45" dirty="0"/>
              <a:t>Development</a:t>
            </a:r>
            <a:r>
              <a:rPr spc="-80" dirty="0"/>
              <a:t> </a:t>
            </a:r>
            <a:r>
              <a:rPr dirty="0"/>
              <a:t>Goals</a:t>
            </a:r>
            <a:r>
              <a:rPr spc="-80" dirty="0"/>
              <a:t> </a:t>
            </a:r>
            <a:r>
              <a:rPr spc="-10" dirty="0"/>
              <a:t>(SDG)Mapped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295400"/>
            <a:ext cx="8534400" cy="670443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9: Industry, Innovation &amp; Infrastructure: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Innovation – Uses AI to solve a unique problem in music: converting      MP3 into sheet music and detecting instruments.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Strengthens Digital Infrastructure – Creates smart digital tools for music learning, performance, and creativity.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Technology &amp; Art – Combines computer science with music, encouraging cross-domain innovation.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Creative Industries – Helps musicians, educators, and learners with accessible technology.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Research &amp; Development – Opens pathways for future projects in music AI and educational technology.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Reach – Can be used by anyone with a computer, making innovation accessible worldwide.</a:t>
            </a:r>
          </a:p>
          <a:p>
            <a:pPr marL="12700" marR="148590">
              <a:lnSpc>
                <a:spcPct val="150000"/>
              </a:lnSpc>
              <a:spcBef>
                <a:spcPts val="360"/>
              </a:spcBef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9816" y="4346078"/>
            <a:ext cx="476884" cy="2972435"/>
          </a:xfrm>
          <a:custGeom>
            <a:avLst/>
            <a:gdLst/>
            <a:ahLst/>
            <a:cxnLst/>
            <a:rect l="l" t="t" r="r" b="b"/>
            <a:pathLst>
              <a:path w="476884" h="2972434">
                <a:moveTo>
                  <a:pt x="476609" y="2971823"/>
                </a:moveTo>
                <a:lnTo>
                  <a:pt x="0" y="2971823"/>
                </a:lnTo>
                <a:lnTo>
                  <a:pt x="0" y="0"/>
                </a:lnTo>
                <a:lnTo>
                  <a:pt x="476609" y="2971823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485036" y="-4761"/>
            <a:ext cx="4273550" cy="7324725"/>
            <a:chOff x="5485036" y="-4761"/>
            <a:chExt cx="4273550" cy="7324725"/>
          </a:xfrm>
        </p:grpSpPr>
        <p:sp>
          <p:nvSpPr>
            <p:cNvPr id="7" name="object 7"/>
            <p:cNvSpPr/>
            <p:nvPr/>
          </p:nvSpPr>
          <p:spPr>
            <a:xfrm>
              <a:off x="5489798" y="0"/>
              <a:ext cx="4264025" cy="7315200"/>
            </a:xfrm>
            <a:custGeom>
              <a:avLst/>
              <a:gdLst/>
              <a:ahLst/>
              <a:cxnLst/>
              <a:rect l="l" t="t" r="r" b="b"/>
              <a:pathLst>
                <a:path w="4264025" h="7315200">
                  <a:moveTo>
                    <a:pt x="0" y="7315199"/>
                  </a:moveTo>
                  <a:lnTo>
                    <a:pt x="4263800" y="4469647"/>
                  </a:lnTo>
                </a:path>
                <a:path w="4264025" h="7315200">
                  <a:moveTo>
                    <a:pt x="2028885" y="0"/>
                  </a:moveTo>
                  <a:lnTo>
                    <a:pt x="3327506" y="7315199"/>
                  </a:lnTo>
                </a:path>
              </a:pathLst>
            </a:custGeom>
            <a:ln w="9524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61232" y="0"/>
              <a:ext cx="2392680" cy="7315200"/>
            </a:xfrm>
            <a:custGeom>
              <a:avLst/>
              <a:gdLst/>
              <a:ahLst/>
              <a:cxnLst/>
              <a:rect l="l" t="t" r="r" b="b"/>
              <a:pathLst>
                <a:path w="2392679" h="7315200">
                  <a:moveTo>
                    <a:pt x="2392366" y="7315199"/>
                  </a:moveTo>
                  <a:lnTo>
                    <a:pt x="0" y="7315199"/>
                  </a:lnTo>
                  <a:lnTo>
                    <a:pt x="2157114" y="0"/>
                  </a:lnTo>
                  <a:lnTo>
                    <a:pt x="2392366" y="8484"/>
                  </a:lnTo>
                  <a:lnTo>
                    <a:pt x="2392366" y="7315199"/>
                  </a:lnTo>
                  <a:close/>
                </a:path>
              </a:pathLst>
            </a:custGeom>
            <a:solidFill>
              <a:srgbClr val="5ECBEF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3378" y="0"/>
              <a:ext cx="2060575" cy="7315200"/>
            </a:xfrm>
            <a:custGeom>
              <a:avLst/>
              <a:gdLst/>
              <a:ahLst/>
              <a:cxnLst/>
              <a:rect l="l" t="t" r="r" b="b"/>
              <a:pathLst>
                <a:path w="2060575" h="7315200">
                  <a:moveTo>
                    <a:pt x="2060221" y="7315199"/>
                  </a:moveTo>
                  <a:lnTo>
                    <a:pt x="1280225" y="7315199"/>
                  </a:lnTo>
                  <a:lnTo>
                    <a:pt x="0" y="0"/>
                  </a:lnTo>
                  <a:lnTo>
                    <a:pt x="2060221" y="0"/>
                  </a:lnTo>
                  <a:lnTo>
                    <a:pt x="2060221" y="7315199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96375" y="4198853"/>
              <a:ext cx="2657475" cy="3116580"/>
            </a:xfrm>
            <a:custGeom>
              <a:avLst/>
              <a:gdLst/>
              <a:ahLst/>
              <a:cxnLst/>
              <a:rect l="l" t="t" r="r" b="b"/>
              <a:pathLst>
                <a:path w="2657475" h="3116579">
                  <a:moveTo>
                    <a:pt x="2657223" y="3116345"/>
                  </a:moveTo>
                  <a:lnTo>
                    <a:pt x="0" y="3116345"/>
                  </a:lnTo>
                  <a:lnTo>
                    <a:pt x="2657223" y="0"/>
                  </a:lnTo>
                  <a:lnTo>
                    <a:pt x="2657223" y="3116345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86762" y="0"/>
              <a:ext cx="2266950" cy="7315200"/>
            </a:xfrm>
            <a:custGeom>
              <a:avLst/>
              <a:gdLst/>
              <a:ahLst/>
              <a:cxnLst/>
              <a:rect l="l" t="t" r="r" b="b"/>
              <a:pathLst>
                <a:path w="2266950" h="7315200">
                  <a:moveTo>
                    <a:pt x="2266836" y="7315199"/>
                  </a:moveTo>
                  <a:lnTo>
                    <a:pt x="1976795" y="7315199"/>
                  </a:lnTo>
                  <a:lnTo>
                    <a:pt x="0" y="0"/>
                  </a:lnTo>
                  <a:lnTo>
                    <a:pt x="2266836" y="0"/>
                  </a:lnTo>
                  <a:lnTo>
                    <a:pt x="2266836" y="7315199"/>
                  </a:lnTo>
                  <a:close/>
                </a:path>
              </a:pathLst>
            </a:custGeom>
            <a:solidFill>
              <a:srgbClr val="17B0E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58272" y="0"/>
              <a:ext cx="895350" cy="7315200"/>
            </a:xfrm>
            <a:custGeom>
              <a:avLst/>
              <a:gdLst/>
              <a:ahLst/>
              <a:cxnLst/>
              <a:rect l="l" t="t" r="r" b="b"/>
              <a:pathLst>
                <a:path w="895350" h="7315200">
                  <a:moveTo>
                    <a:pt x="895327" y="7315199"/>
                  </a:moveTo>
                  <a:lnTo>
                    <a:pt x="0" y="7315199"/>
                  </a:lnTo>
                  <a:lnTo>
                    <a:pt x="720121" y="0"/>
                  </a:lnTo>
                  <a:lnTo>
                    <a:pt x="895327" y="0"/>
                  </a:lnTo>
                  <a:lnTo>
                    <a:pt x="895327" y="7315199"/>
                  </a:lnTo>
                  <a:close/>
                </a:path>
              </a:pathLst>
            </a:custGeom>
            <a:solidFill>
              <a:srgbClr val="2E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3109" y="0"/>
              <a:ext cx="1110615" cy="7315200"/>
            </a:xfrm>
            <a:custGeom>
              <a:avLst/>
              <a:gdLst/>
              <a:ahLst/>
              <a:cxnLst/>
              <a:rect l="l" t="t" r="r" b="b"/>
              <a:pathLst>
                <a:path w="1110615" h="7315200">
                  <a:moveTo>
                    <a:pt x="1110489" y="7315199"/>
                  </a:moveTo>
                  <a:lnTo>
                    <a:pt x="999508" y="7315199"/>
                  </a:lnTo>
                  <a:lnTo>
                    <a:pt x="0" y="0"/>
                  </a:lnTo>
                  <a:lnTo>
                    <a:pt x="1110489" y="0"/>
                  </a:lnTo>
                  <a:lnTo>
                    <a:pt x="1110489" y="7315199"/>
                  </a:lnTo>
                  <a:close/>
                </a:path>
              </a:pathLst>
            </a:custGeom>
            <a:solidFill>
              <a:srgbClr val="23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20000" y="5269801"/>
              <a:ext cx="1134110" cy="2045970"/>
            </a:xfrm>
            <a:custGeom>
              <a:avLst/>
              <a:gdLst/>
              <a:ahLst/>
              <a:cxnLst/>
              <a:rect l="l" t="t" r="r" b="b"/>
              <a:pathLst>
                <a:path w="1134109" h="2045970">
                  <a:moveTo>
                    <a:pt x="1133599" y="2045397"/>
                  </a:moveTo>
                  <a:lnTo>
                    <a:pt x="0" y="2045397"/>
                  </a:lnTo>
                  <a:lnTo>
                    <a:pt x="1133599" y="0"/>
                  </a:lnTo>
                  <a:lnTo>
                    <a:pt x="1133599" y="2045397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74867" y="531973"/>
            <a:ext cx="2304415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Introduction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07816" y="1295400"/>
            <a:ext cx="8912384" cy="37142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is often available as audio (MP3) but not as readable sheet music.</a:t>
            </a:r>
          </a:p>
          <a:p>
            <a:pPr marL="355600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solves this problem by using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sound analysis (signal processing).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remove vocals, detect instruments, and extract their musical notes.</a:t>
            </a:r>
          </a:p>
          <a:p>
            <a:pPr marL="355600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choose instruments, change pitch/tune, and get output as sheet music or MIDI.</a:t>
            </a:r>
          </a:p>
          <a:p>
            <a:pPr marL="355600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learning, composing, and performing music easier and more interactive.</a:t>
            </a:r>
          </a:p>
          <a:p>
            <a:pPr marL="12700" algn="just">
              <a:lnSpc>
                <a:spcPct val="150000"/>
              </a:lnSpc>
              <a:spcBef>
                <a:spcPts val="95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867" y="531973"/>
            <a:ext cx="2304415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7328" y="1522160"/>
            <a:ext cx="8328659" cy="27832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5"/>
              </a:spcBef>
            </a:pP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Objectives:-</a:t>
            </a:r>
            <a:endParaRPr lang="en-GB" sz="2000" b="1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5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GB" sz="2000" spc="114" dirty="0">
                <a:latin typeface="Times New Roman"/>
                <a:cs typeface="Times New Roman"/>
              </a:rPr>
              <a:t>To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spc="70" dirty="0">
                <a:latin typeface="Times New Roman"/>
                <a:cs typeface="Times New Roman"/>
              </a:rPr>
              <a:t>separate </a:t>
            </a:r>
            <a:r>
              <a:rPr lang="en-GB" sz="2000" dirty="0">
                <a:latin typeface="Times New Roman"/>
                <a:cs typeface="Times New Roman"/>
              </a:rPr>
              <a:t>vocals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(lyrics)</a:t>
            </a:r>
            <a:r>
              <a:rPr lang="en-GB" sz="2000" spc="70" dirty="0">
                <a:latin typeface="Times New Roman"/>
                <a:cs typeface="Times New Roman"/>
              </a:rPr>
              <a:t> </a:t>
            </a:r>
            <a:r>
              <a:rPr lang="en-GB" sz="2000" spc="80" dirty="0">
                <a:latin typeface="Times New Roman"/>
                <a:cs typeface="Times New Roman"/>
              </a:rPr>
              <a:t>from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spc="70" dirty="0">
                <a:latin typeface="Times New Roman"/>
                <a:cs typeface="Times New Roman"/>
              </a:rPr>
              <a:t>instrumental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spc="75" dirty="0">
                <a:latin typeface="Times New Roman"/>
                <a:cs typeface="Times New Roman"/>
              </a:rPr>
              <a:t>tracks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spc="55" dirty="0">
                <a:latin typeface="Times New Roman"/>
                <a:cs typeface="Times New Roman"/>
              </a:rPr>
              <a:t>in</a:t>
            </a:r>
            <a:r>
              <a:rPr lang="en-GB" sz="2000" spc="70" dirty="0">
                <a:latin typeface="Times New Roman"/>
                <a:cs typeface="Times New Roman"/>
              </a:rPr>
              <a:t> </a:t>
            </a:r>
            <a:r>
              <a:rPr lang="en-GB" sz="2000" spc="85" dirty="0">
                <a:latin typeface="Times New Roman"/>
                <a:cs typeface="Times New Roman"/>
              </a:rPr>
              <a:t>audio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files</a:t>
            </a:r>
            <a:r>
              <a:rPr lang="en-GB" sz="2000" spc="70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using</a:t>
            </a:r>
            <a:r>
              <a:rPr lang="en-GB" sz="2000" spc="65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signal </a:t>
            </a:r>
            <a:r>
              <a:rPr lang="en-GB" sz="2000" dirty="0">
                <a:latin typeface="Times New Roman"/>
                <a:cs typeface="Times New Roman"/>
              </a:rPr>
              <a:t>processing</a:t>
            </a:r>
            <a:r>
              <a:rPr lang="en-GB" sz="2000" spc="160" dirty="0">
                <a:latin typeface="Times New Roman"/>
                <a:cs typeface="Times New Roman"/>
              </a:rPr>
              <a:t> </a:t>
            </a:r>
            <a:r>
              <a:rPr lang="en-GB" sz="2000" spc="105" dirty="0">
                <a:latin typeface="Times New Roman"/>
                <a:cs typeface="Times New Roman"/>
              </a:rPr>
              <a:t>or</a:t>
            </a:r>
            <a:r>
              <a:rPr lang="en-GB" sz="2000" spc="165" dirty="0">
                <a:latin typeface="Times New Roman"/>
                <a:cs typeface="Times New Roman"/>
              </a:rPr>
              <a:t> </a:t>
            </a:r>
            <a:r>
              <a:rPr lang="en-IN" sz="2000" spc="65" dirty="0">
                <a:latin typeface="Times New Roman"/>
                <a:cs typeface="Times New Roman"/>
              </a:rPr>
              <a:t>ML</a:t>
            </a:r>
            <a:r>
              <a:rPr lang="en-GB" sz="2000" spc="65" dirty="0">
                <a:latin typeface="Times New Roman"/>
                <a:cs typeface="Times New Roman"/>
              </a:rPr>
              <a:t>-based</a:t>
            </a:r>
            <a:r>
              <a:rPr lang="en-GB" sz="2000" spc="165" dirty="0">
                <a:latin typeface="Times New Roman"/>
                <a:cs typeface="Times New Roman"/>
              </a:rPr>
              <a:t> </a:t>
            </a:r>
            <a:r>
              <a:rPr lang="en-GB" sz="2000" spc="45" dirty="0">
                <a:latin typeface="Times New Roman"/>
                <a:cs typeface="Times New Roman"/>
              </a:rPr>
              <a:t>techniques.</a:t>
            </a:r>
          </a:p>
          <a:p>
            <a:pPr marL="355600" indent="-342900" algn="just">
              <a:lnSpc>
                <a:spcPct val="15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GB" sz="2000" spc="114" dirty="0">
                <a:latin typeface="Times New Roman"/>
                <a:cs typeface="Times New Roman"/>
              </a:rPr>
              <a:t>To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spc="60" dirty="0">
                <a:latin typeface="Times New Roman"/>
                <a:cs typeface="Times New Roman"/>
              </a:rPr>
              <a:t>convert </a:t>
            </a:r>
            <a:r>
              <a:rPr lang="en-GB" sz="2000" spc="75" dirty="0">
                <a:latin typeface="Times New Roman"/>
                <a:cs typeface="Times New Roman"/>
              </a:rPr>
              <a:t>raw</a:t>
            </a:r>
            <a:r>
              <a:rPr lang="en-GB" sz="2000" spc="60" dirty="0">
                <a:latin typeface="Times New Roman"/>
                <a:cs typeface="Times New Roman"/>
              </a:rPr>
              <a:t> </a:t>
            </a:r>
            <a:r>
              <a:rPr lang="en-GB" sz="2000" spc="105" dirty="0">
                <a:latin typeface="Times New Roman"/>
                <a:cs typeface="Times New Roman"/>
              </a:rPr>
              <a:t>MP3</a:t>
            </a:r>
            <a:r>
              <a:rPr lang="en-GB" sz="2000" spc="60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files</a:t>
            </a:r>
            <a:r>
              <a:rPr lang="en-GB" sz="2000" spc="60" dirty="0">
                <a:latin typeface="Times New Roman"/>
                <a:cs typeface="Times New Roman"/>
              </a:rPr>
              <a:t> </a:t>
            </a:r>
            <a:r>
              <a:rPr lang="en-GB" sz="2000" spc="80" dirty="0">
                <a:latin typeface="Times New Roman"/>
                <a:cs typeface="Times New Roman"/>
              </a:rPr>
              <a:t>into</a:t>
            </a:r>
            <a:r>
              <a:rPr lang="en-GB" sz="2000" spc="60" dirty="0">
                <a:latin typeface="Times New Roman"/>
                <a:cs typeface="Times New Roman"/>
              </a:rPr>
              <a:t> </a:t>
            </a:r>
            <a:r>
              <a:rPr lang="en-GB" sz="2000" spc="70" dirty="0">
                <a:latin typeface="Times New Roman"/>
                <a:cs typeface="Times New Roman"/>
              </a:rPr>
              <a:t>instrument-</a:t>
            </a:r>
            <a:r>
              <a:rPr lang="en-GB" sz="2000" dirty="0">
                <a:latin typeface="Times New Roman"/>
                <a:cs typeface="Times New Roman"/>
              </a:rPr>
              <a:t>specific</a:t>
            </a:r>
            <a:r>
              <a:rPr lang="en-GB" sz="2000" spc="60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sheet</a:t>
            </a:r>
            <a:r>
              <a:rPr lang="en-GB" sz="2000" spc="60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music.</a:t>
            </a:r>
            <a:endParaRPr lang="en-GB" sz="2000" spc="6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5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GB" sz="2000" spc="114" dirty="0">
                <a:latin typeface="Times New Roman"/>
                <a:cs typeface="Times New Roman"/>
              </a:rPr>
              <a:t>To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let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users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spc="60" dirty="0">
                <a:latin typeface="Times New Roman"/>
                <a:cs typeface="Times New Roman"/>
              </a:rPr>
              <a:t>convert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spc="105" dirty="0">
                <a:latin typeface="Times New Roman"/>
                <a:cs typeface="Times New Roman"/>
              </a:rPr>
              <a:t>or</a:t>
            </a:r>
            <a:r>
              <a:rPr lang="en-GB" sz="2000" spc="55" dirty="0">
                <a:latin typeface="Times New Roman"/>
                <a:cs typeface="Times New Roman"/>
              </a:rPr>
              <a:t> change </a:t>
            </a:r>
            <a:r>
              <a:rPr lang="en-GB" sz="2000" spc="75" dirty="0">
                <a:latin typeface="Times New Roman"/>
                <a:cs typeface="Times New Roman"/>
              </a:rPr>
              <a:t>the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spc="85" dirty="0">
                <a:latin typeface="Times New Roman"/>
                <a:cs typeface="Times New Roman"/>
              </a:rPr>
              <a:t>tune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spc="105" dirty="0">
                <a:latin typeface="Times New Roman"/>
                <a:cs typeface="Times New Roman"/>
              </a:rPr>
              <a:t>or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spc="65" dirty="0">
                <a:latin typeface="Times New Roman"/>
                <a:cs typeface="Times New Roman"/>
              </a:rPr>
              <a:t>pitch</a:t>
            </a:r>
            <a:r>
              <a:rPr lang="en-GB" sz="2000" spc="55" dirty="0">
                <a:latin typeface="Times New Roman"/>
                <a:cs typeface="Times New Roman"/>
              </a:rPr>
              <a:t> of </a:t>
            </a:r>
            <a:r>
              <a:rPr lang="en-GB" sz="2000" spc="75" dirty="0">
                <a:latin typeface="Times New Roman"/>
                <a:cs typeface="Times New Roman"/>
              </a:rPr>
              <a:t>the</a:t>
            </a:r>
            <a:r>
              <a:rPr lang="en-GB" sz="2000" spc="5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final</a:t>
            </a:r>
            <a:r>
              <a:rPr lang="en-GB" sz="2000" spc="50" dirty="0">
                <a:latin typeface="Times New Roman"/>
                <a:cs typeface="Times New Roman"/>
              </a:rPr>
              <a:t> </a:t>
            </a:r>
            <a:r>
              <a:rPr lang="en-GB" sz="2000" spc="100" dirty="0">
                <a:latin typeface="Times New Roman"/>
                <a:cs typeface="Times New Roman"/>
              </a:rPr>
              <a:t>output.</a:t>
            </a:r>
            <a:endParaRPr lang="en-GB" sz="20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5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Keep track of History for further references.</a:t>
            </a:r>
            <a:endParaRPr lang="en-GB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2335-043C-B578-09DF-FADA82C90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0465-1DE3-ADE9-4C4C-486CD570F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81000"/>
            <a:ext cx="8290560" cy="530915"/>
          </a:xfrm>
        </p:spPr>
        <p:txBody>
          <a:bodyPr/>
          <a:lstStyle/>
          <a:p>
            <a:r>
              <a:rPr lang="en-US" spc="-45" dirty="0"/>
              <a:t>Literature</a:t>
            </a:r>
            <a:r>
              <a:rPr lang="en-US" spc="-100" dirty="0"/>
              <a:t> </a:t>
            </a:r>
            <a:r>
              <a:rPr lang="en-US" spc="-35" dirty="0"/>
              <a:t>Survey</a:t>
            </a:r>
            <a:r>
              <a:rPr lang="en-US" spc="-100" dirty="0"/>
              <a:t> </a:t>
            </a:r>
            <a:r>
              <a:rPr lang="en-US" dirty="0"/>
              <a:t>of</a:t>
            </a:r>
            <a:r>
              <a:rPr lang="en-US" spc="-100" dirty="0"/>
              <a:t> </a:t>
            </a:r>
            <a:r>
              <a:rPr lang="en-US" dirty="0"/>
              <a:t>the</a:t>
            </a:r>
            <a:r>
              <a:rPr lang="en-US" spc="-100" dirty="0"/>
              <a:t> </a:t>
            </a:r>
            <a:r>
              <a:rPr lang="en-US" dirty="0"/>
              <a:t>existing</a:t>
            </a:r>
            <a:r>
              <a:rPr lang="en-US" spc="-100" dirty="0"/>
              <a:t> </a:t>
            </a:r>
            <a:r>
              <a:rPr lang="en-US" spc="-10" dirty="0"/>
              <a:t>system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5DC8C5-BB11-71A9-FF11-A129091B6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012304"/>
              </p:ext>
            </p:extLst>
          </p:nvPr>
        </p:nvGraphicFramePr>
        <p:xfrm>
          <a:off x="138747" y="1066800"/>
          <a:ext cx="9519286" cy="6107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580">
                  <a:extLst>
                    <a:ext uri="{9D8B030D-6E8A-4147-A177-3AD203B41FA5}">
                      <a16:colId xmlns:a16="http://schemas.microsoft.com/office/drawing/2014/main" val="395689376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846189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3006129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853403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408015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396071512"/>
                    </a:ext>
                  </a:extLst>
                </a:gridCol>
                <a:gridCol w="1703706">
                  <a:extLst>
                    <a:ext uri="{9D8B030D-6E8A-4147-A177-3AD203B41FA5}">
                      <a16:colId xmlns:a16="http://schemas.microsoft.com/office/drawing/2014/main" val="2480978975"/>
                    </a:ext>
                  </a:extLst>
                </a:gridCol>
              </a:tblGrid>
              <a:tr h="71253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497083"/>
                  </a:ext>
                </a:extLst>
              </a:tr>
              <a:tr h="221588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Selected Features for Classifying Environmental Audio Data with 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 Zhang, Dan-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jv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Lv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key features useful for audio classification.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Extracted audio features </a:t>
                      </a:r>
                      <a:r>
                        <a:rPr lang="en-IN" dirty="0"/>
                        <a:t>Mel-Frequency Cepstral Coefficients</a:t>
                      </a:r>
                      <a:r>
                        <a:rPr lang="en-US" dirty="0"/>
                        <a:t>, </a:t>
                      </a:r>
                      <a:r>
                        <a:rPr lang="en-IN" dirty="0"/>
                        <a:t>Code Excited Linear Prediction</a:t>
                      </a:r>
                      <a:r>
                        <a:rPr lang="en-US" dirty="0"/>
                        <a:t>(MFCC, CELP) and classified them using Random Forest.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applied this to classify instruments from MP3 audio using MFCC features.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103231"/>
                  </a:ext>
                </a:extLst>
              </a:tr>
              <a:tr h="2481786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Music Information Retrieval: Recent Developments and Applications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Markus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Schedl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Emilia Gómez, Julián Urbano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the gap between low-level audio features and symbolic music (notes).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different MIR (Music Information Retrieval) methods such as feature extraction, tagging, and recommendation systems.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can use signal processing +ML methods to convert audio into sheet music and MIDI in our project.</a:t>
                      </a:r>
                    </a:p>
                    <a:p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30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30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79D3-C045-9ADD-2E83-E20E71CB9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81000"/>
            <a:ext cx="8290560" cy="530915"/>
          </a:xfrm>
        </p:spPr>
        <p:txBody>
          <a:bodyPr/>
          <a:lstStyle/>
          <a:p>
            <a:r>
              <a:rPr lang="en-US" spc="-45" dirty="0"/>
              <a:t>Literature</a:t>
            </a:r>
            <a:r>
              <a:rPr lang="en-US" spc="-100" dirty="0"/>
              <a:t> </a:t>
            </a:r>
            <a:r>
              <a:rPr lang="en-US" spc="-35" dirty="0"/>
              <a:t>Survey</a:t>
            </a:r>
            <a:r>
              <a:rPr lang="en-US" spc="-100" dirty="0"/>
              <a:t> </a:t>
            </a:r>
            <a:r>
              <a:rPr lang="en-US" dirty="0"/>
              <a:t>of</a:t>
            </a:r>
            <a:r>
              <a:rPr lang="en-US" spc="-100" dirty="0"/>
              <a:t> </a:t>
            </a:r>
            <a:r>
              <a:rPr lang="en-US" dirty="0"/>
              <a:t>the</a:t>
            </a:r>
            <a:r>
              <a:rPr lang="en-US" spc="-100" dirty="0"/>
              <a:t> </a:t>
            </a:r>
            <a:r>
              <a:rPr lang="en-US" dirty="0"/>
              <a:t>existing</a:t>
            </a:r>
            <a:r>
              <a:rPr lang="en-US" spc="-100" dirty="0"/>
              <a:t> </a:t>
            </a:r>
            <a:r>
              <a:rPr lang="en-US" spc="-10" dirty="0"/>
              <a:t>system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16EA57-2A81-355B-492D-2B546F21F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269535"/>
              </p:ext>
            </p:extLst>
          </p:nvPr>
        </p:nvGraphicFramePr>
        <p:xfrm>
          <a:off x="228600" y="1295400"/>
          <a:ext cx="9296399" cy="449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95689376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75846189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3006129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8534035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30408015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396071512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2480978975"/>
                    </a:ext>
                  </a:extLst>
                </a:gridCol>
              </a:tblGrid>
              <a:tr h="67817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497083"/>
                  </a:ext>
                </a:extLst>
              </a:tr>
              <a:tr h="381763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 Component Analysis: Recent Advances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Aapo Hyvärinen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ICA is a strong tool for blind source separation, successfully applied in audio, neuroscience, and speech analysis.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ICA separates mixed signals (like vocals + instruments) into independent components using statistical independence.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used ICA to remove vocals (lyrics) from MP3 files, leaving only the clean instrumental part, which makes it easier to detect instruments and generate accurate sheet music.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103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09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Limitations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existing</a:t>
            </a:r>
            <a:r>
              <a:rPr spc="-4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97EF5F2-CAD1-064C-A23D-DEE511EA6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66" y="1134230"/>
            <a:ext cx="8335759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 literature review of existing systems, we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that: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include a dedicated History section, which limits users from tracking past activities or references.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generate or provide sheet notes for specific instruments, restricting musicians who need instrument-wise notations.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offer pitch adjustment features, so users cannot modify or fine-tune the audio according to their preferences.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617" rIns="0" bIns="0" rtlCol="0">
            <a:spAutoFit/>
          </a:bodyPr>
          <a:lstStyle/>
          <a:p>
            <a:pPr marL="37719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Problem</a:t>
            </a:r>
            <a:r>
              <a:rPr spc="-165" dirty="0"/>
              <a:t> </a:t>
            </a:r>
            <a:r>
              <a:rPr spc="-35" dirty="0"/>
              <a:t>statement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95E983-E921-7D63-918D-54B789588DB1}"/>
              </a:ext>
            </a:extLst>
          </p:cNvPr>
          <p:cNvSpPr txBox="1"/>
          <p:nvPr/>
        </p:nvSpPr>
        <p:spPr>
          <a:xfrm>
            <a:off x="609600" y="1366154"/>
            <a:ext cx="8579372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focus on classifying sounds, but they fail to provide complete sheet music generation.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Vocals and instruments are often not separated properly, which reduces transcription accuracy.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on limited datasets struggle with real-world mixed audio, leading to poor performance.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stop at audio feature extraction and do not convert them into readable notes or MIDI.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have little to no control to choose instruments or adjust pitch/tune in the final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343375"/>
            <a:ext cx="476884" cy="2972435"/>
          </a:xfrm>
          <a:custGeom>
            <a:avLst/>
            <a:gdLst/>
            <a:ahLst/>
            <a:cxnLst/>
            <a:rect l="l" t="t" r="r" b="b"/>
            <a:pathLst>
              <a:path w="476884" h="2972434">
                <a:moveTo>
                  <a:pt x="476609" y="2971823"/>
                </a:moveTo>
                <a:lnTo>
                  <a:pt x="0" y="2971823"/>
                </a:lnTo>
                <a:lnTo>
                  <a:pt x="0" y="0"/>
                </a:lnTo>
                <a:lnTo>
                  <a:pt x="476609" y="2971823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85036" y="-4761"/>
            <a:ext cx="4273550" cy="7324725"/>
            <a:chOff x="5485036" y="-4761"/>
            <a:chExt cx="4273550" cy="7324725"/>
          </a:xfrm>
        </p:grpSpPr>
        <p:sp>
          <p:nvSpPr>
            <p:cNvPr id="6" name="object 6"/>
            <p:cNvSpPr/>
            <p:nvPr/>
          </p:nvSpPr>
          <p:spPr>
            <a:xfrm>
              <a:off x="5489798" y="0"/>
              <a:ext cx="4264025" cy="7315200"/>
            </a:xfrm>
            <a:custGeom>
              <a:avLst/>
              <a:gdLst/>
              <a:ahLst/>
              <a:cxnLst/>
              <a:rect l="l" t="t" r="r" b="b"/>
              <a:pathLst>
                <a:path w="4264025" h="7315200">
                  <a:moveTo>
                    <a:pt x="0" y="7315199"/>
                  </a:moveTo>
                  <a:lnTo>
                    <a:pt x="4263800" y="4469647"/>
                  </a:lnTo>
                </a:path>
                <a:path w="4264025" h="7315200">
                  <a:moveTo>
                    <a:pt x="2028885" y="0"/>
                  </a:moveTo>
                  <a:lnTo>
                    <a:pt x="3327506" y="7315199"/>
                  </a:lnTo>
                </a:path>
              </a:pathLst>
            </a:custGeom>
            <a:ln w="9524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61232" y="0"/>
              <a:ext cx="2392680" cy="7315200"/>
            </a:xfrm>
            <a:custGeom>
              <a:avLst/>
              <a:gdLst/>
              <a:ahLst/>
              <a:cxnLst/>
              <a:rect l="l" t="t" r="r" b="b"/>
              <a:pathLst>
                <a:path w="2392679" h="7315200">
                  <a:moveTo>
                    <a:pt x="2392366" y="7315199"/>
                  </a:moveTo>
                  <a:lnTo>
                    <a:pt x="0" y="7315199"/>
                  </a:lnTo>
                  <a:lnTo>
                    <a:pt x="2157114" y="0"/>
                  </a:lnTo>
                  <a:lnTo>
                    <a:pt x="2392366" y="8484"/>
                  </a:lnTo>
                  <a:lnTo>
                    <a:pt x="2392366" y="7315199"/>
                  </a:lnTo>
                  <a:close/>
                </a:path>
              </a:pathLst>
            </a:custGeom>
            <a:solidFill>
              <a:srgbClr val="5ECBEF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93378" y="0"/>
              <a:ext cx="2060575" cy="7315200"/>
            </a:xfrm>
            <a:custGeom>
              <a:avLst/>
              <a:gdLst/>
              <a:ahLst/>
              <a:cxnLst/>
              <a:rect l="l" t="t" r="r" b="b"/>
              <a:pathLst>
                <a:path w="2060575" h="7315200">
                  <a:moveTo>
                    <a:pt x="2060221" y="7315199"/>
                  </a:moveTo>
                  <a:lnTo>
                    <a:pt x="1280225" y="7315199"/>
                  </a:lnTo>
                  <a:lnTo>
                    <a:pt x="0" y="0"/>
                  </a:lnTo>
                  <a:lnTo>
                    <a:pt x="2060221" y="0"/>
                  </a:lnTo>
                  <a:lnTo>
                    <a:pt x="2060221" y="7315199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6375" y="4198853"/>
              <a:ext cx="2657475" cy="3116580"/>
            </a:xfrm>
            <a:custGeom>
              <a:avLst/>
              <a:gdLst/>
              <a:ahLst/>
              <a:cxnLst/>
              <a:rect l="l" t="t" r="r" b="b"/>
              <a:pathLst>
                <a:path w="2657475" h="3116579">
                  <a:moveTo>
                    <a:pt x="2657223" y="3116345"/>
                  </a:moveTo>
                  <a:lnTo>
                    <a:pt x="0" y="3116345"/>
                  </a:lnTo>
                  <a:lnTo>
                    <a:pt x="2657223" y="0"/>
                  </a:lnTo>
                  <a:lnTo>
                    <a:pt x="2657223" y="3116345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86762" y="0"/>
              <a:ext cx="2266950" cy="7315200"/>
            </a:xfrm>
            <a:custGeom>
              <a:avLst/>
              <a:gdLst/>
              <a:ahLst/>
              <a:cxnLst/>
              <a:rect l="l" t="t" r="r" b="b"/>
              <a:pathLst>
                <a:path w="2266950" h="7315200">
                  <a:moveTo>
                    <a:pt x="2266836" y="7315199"/>
                  </a:moveTo>
                  <a:lnTo>
                    <a:pt x="1976795" y="7315199"/>
                  </a:lnTo>
                  <a:lnTo>
                    <a:pt x="0" y="0"/>
                  </a:lnTo>
                  <a:lnTo>
                    <a:pt x="2266836" y="0"/>
                  </a:lnTo>
                  <a:lnTo>
                    <a:pt x="2266836" y="7315199"/>
                  </a:lnTo>
                  <a:close/>
                </a:path>
              </a:pathLst>
            </a:custGeom>
            <a:solidFill>
              <a:srgbClr val="17B0E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58272" y="0"/>
              <a:ext cx="895350" cy="7315200"/>
            </a:xfrm>
            <a:custGeom>
              <a:avLst/>
              <a:gdLst/>
              <a:ahLst/>
              <a:cxnLst/>
              <a:rect l="l" t="t" r="r" b="b"/>
              <a:pathLst>
                <a:path w="895350" h="7315200">
                  <a:moveTo>
                    <a:pt x="895327" y="7315199"/>
                  </a:moveTo>
                  <a:lnTo>
                    <a:pt x="0" y="7315199"/>
                  </a:lnTo>
                  <a:lnTo>
                    <a:pt x="720121" y="0"/>
                  </a:lnTo>
                  <a:lnTo>
                    <a:pt x="895327" y="0"/>
                  </a:lnTo>
                  <a:lnTo>
                    <a:pt x="895327" y="7315199"/>
                  </a:lnTo>
                  <a:close/>
                </a:path>
              </a:pathLst>
            </a:custGeom>
            <a:solidFill>
              <a:srgbClr val="2E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3109" y="0"/>
              <a:ext cx="1110615" cy="7315200"/>
            </a:xfrm>
            <a:custGeom>
              <a:avLst/>
              <a:gdLst/>
              <a:ahLst/>
              <a:cxnLst/>
              <a:rect l="l" t="t" r="r" b="b"/>
              <a:pathLst>
                <a:path w="1110615" h="7315200">
                  <a:moveTo>
                    <a:pt x="1110489" y="7315199"/>
                  </a:moveTo>
                  <a:lnTo>
                    <a:pt x="999508" y="7315199"/>
                  </a:lnTo>
                  <a:lnTo>
                    <a:pt x="0" y="0"/>
                  </a:lnTo>
                  <a:lnTo>
                    <a:pt x="1110489" y="0"/>
                  </a:lnTo>
                  <a:lnTo>
                    <a:pt x="1110489" y="7315199"/>
                  </a:lnTo>
                  <a:close/>
                </a:path>
              </a:pathLst>
            </a:custGeom>
            <a:solidFill>
              <a:srgbClr val="23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20000" y="5269801"/>
              <a:ext cx="1134110" cy="2045970"/>
            </a:xfrm>
            <a:custGeom>
              <a:avLst/>
              <a:gdLst/>
              <a:ahLst/>
              <a:cxnLst/>
              <a:rect l="l" t="t" r="r" b="b"/>
              <a:pathLst>
                <a:path w="1134109" h="2045970">
                  <a:moveTo>
                    <a:pt x="1133599" y="2045397"/>
                  </a:moveTo>
                  <a:lnTo>
                    <a:pt x="0" y="2045397"/>
                  </a:lnTo>
                  <a:lnTo>
                    <a:pt x="1133599" y="0"/>
                  </a:lnTo>
                  <a:lnTo>
                    <a:pt x="1133599" y="2045397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System</a:t>
            </a:r>
            <a:r>
              <a:rPr spc="-5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A2541-7CC8-B820-57C6-A3F23DA35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67" y="1672313"/>
            <a:ext cx="7086083" cy="35283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5485036" y="-4761"/>
            <a:ext cx="4273550" cy="7324725"/>
            <a:chOff x="5485036" y="-4761"/>
            <a:chExt cx="4273550" cy="7324725"/>
          </a:xfrm>
        </p:grpSpPr>
        <p:sp>
          <p:nvSpPr>
            <p:cNvPr id="6" name="object 6"/>
            <p:cNvSpPr/>
            <p:nvPr/>
          </p:nvSpPr>
          <p:spPr>
            <a:xfrm>
              <a:off x="5489798" y="0"/>
              <a:ext cx="4264025" cy="7315200"/>
            </a:xfrm>
            <a:custGeom>
              <a:avLst/>
              <a:gdLst/>
              <a:ahLst/>
              <a:cxnLst/>
              <a:rect l="l" t="t" r="r" b="b"/>
              <a:pathLst>
                <a:path w="4264025" h="7315200">
                  <a:moveTo>
                    <a:pt x="0" y="7315199"/>
                  </a:moveTo>
                  <a:lnTo>
                    <a:pt x="4263800" y="4469647"/>
                  </a:lnTo>
                </a:path>
                <a:path w="4264025" h="7315200">
                  <a:moveTo>
                    <a:pt x="2028885" y="0"/>
                  </a:moveTo>
                  <a:lnTo>
                    <a:pt x="3327506" y="7315199"/>
                  </a:lnTo>
                </a:path>
              </a:pathLst>
            </a:custGeom>
            <a:ln w="9524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61232" y="0"/>
              <a:ext cx="2392680" cy="7315200"/>
            </a:xfrm>
            <a:custGeom>
              <a:avLst/>
              <a:gdLst/>
              <a:ahLst/>
              <a:cxnLst/>
              <a:rect l="l" t="t" r="r" b="b"/>
              <a:pathLst>
                <a:path w="2392679" h="7315200">
                  <a:moveTo>
                    <a:pt x="2392366" y="7315199"/>
                  </a:moveTo>
                  <a:lnTo>
                    <a:pt x="0" y="7315199"/>
                  </a:lnTo>
                  <a:lnTo>
                    <a:pt x="2157114" y="0"/>
                  </a:lnTo>
                  <a:lnTo>
                    <a:pt x="2392366" y="8484"/>
                  </a:lnTo>
                  <a:lnTo>
                    <a:pt x="2392366" y="7315199"/>
                  </a:lnTo>
                  <a:close/>
                </a:path>
              </a:pathLst>
            </a:custGeom>
            <a:solidFill>
              <a:srgbClr val="5ECBEF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93378" y="0"/>
              <a:ext cx="2060575" cy="7315200"/>
            </a:xfrm>
            <a:custGeom>
              <a:avLst/>
              <a:gdLst/>
              <a:ahLst/>
              <a:cxnLst/>
              <a:rect l="l" t="t" r="r" b="b"/>
              <a:pathLst>
                <a:path w="2060575" h="7315200">
                  <a:moveTo>
                    <a:pt x="2060221" y="7315199"/>
                  </a:moveTo>
                  <a:lnTo>
                    <a:pt x="1280225" y="7315199"/>
                  </a:lnTo>
                  <a:lnTo>
                    <a:pt x="0" y="0"/>
                  </a:lnTo>
                  <a:lnTo>
                    <a:pt x="2060221" y="0"/>
                  </a:lnTo>
                  <a:lnTo>
                    <a:pt x="2060221" y="7315199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6375" y="4198853"/>
              <a:ext cx="2657475" cy="3116580"/>
            </a:xfrm>
            <a:custGeom>
              <a:avLst/>
              <a:gdLst/>
              <a:ahLst/>
              <a:cxnLst/>
              <a:rect l="l" t="t" r="r" b="b"/>
              <a:pathLst>
                <a:path w="2657475" h="3116579">
                  <a:moveTo>
                    <a:pt x="2657223" y="3116345"/>
                  </a:moveTo>
                  <a:lnTo>
                    <a:pt x="0" y="3116345"/>
                  </a:lnTo>
                  <a:lnTo>
                    <a:pt x="2657223" y="0"/>
                  </a:lnTo>
                  <a:lnTo>
                    <a:pt x="2657223" y="3116345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86762" y="0"/>
              <a:ext cx="2266950" cy="7315200"/>
            </a:xfrm>
            <a:custGeom>
              <a:avLst/>
              <a:gdLst/>
              <a:ahLst/>
              <a:cxnLst/>
              <a:rect l="l" t="t" r="r" b="b"/>
              <a:pathLst>
                <a:path w="2266950" h="7315200">
                  <a:moveTo>
                    <a:pt x="2266836" y="7315199"/>
                  </a:moveTo>
                  <a:lnTo>
                    <a:pt x="1976795" y="7315199"/>
                  </a:lnTo>
                  <a:lnTo>
                    <a:pt x="0" y="0"/>
                  </a:lnTo>
                  <a:lnTo>
                    <a:pt x="2266836" y="0"/>
                  </a:lnTo>
                  <a:lnTo>
                    <a:pt x="2266836" y="7315199"/>
                  </a:lnTo>
                  <a:close/>
                </a:path>
              </a:pathLst>
            </a:custGeom>
            <a:solidFill>
              <a:srgbClr val="17B0E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58272" y="0"/>
              <a:ext cx="895350" cy="7315200"/>
            </a:xfrm>
            <a:custGeom>
              <a:avLst/>
              <a:gdLst/>
              <a:ahLst/>
              <a:cxnLst/>
              <a:rect l="l" t="t" r="r" b="b"/>
              <a:pathLst>
                <a:path w="895350" h="7315200">
                  <a:moveTo>
                    <a:pt x="895327" y="7315199"/>
                  </a:moveTo>
                  <a:lnTo>
                    <a:pt x="0" y="7315199"/>
                  </a:lnTo>
                  <a:lnTo>
                    <a:pt x="720121" y="0"/>
                  </a:lnTo>
                  <a:lnTo>
                    <a:pt x="895327" y="0"/>
                  </a:lnTo>
                  <a:lnTo>
                    <a:pt x="895327" y="7315199"/>
                  </a:lnTo>
                  <a:close/>
                </a:path>
              </a:pathLst>
            </a:custGeom>
            <a:solidFill>
              <a:srgbClr val="2E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3109" y="0"/>
              <a:ext cx="1110615" cy="7315200"/>
            </a:xfrm>
            <a:custGeom>
              <a:avLst/>
              <a:gdLst/>
              <a:ahLst/>
              <a:cxnLst/>
              <a:rect l="l" t="t" r="r" b="b"/>
              <a:pathLst>
                <a:path w="1110615" h="7315200">
                  <a:moveTo>
                    <a:pt x="1110489" y="7315199"/>
                  </a:moveTo>
                  <a:lnTo>
                    <a:pt x="999508" y="7315199"/>
                  </a:lnTo>
                  <a:lnTo>
                    <a:pt x="0" y="0"/>
                  </a:lnTo>
                  <a:lnTo>
                    <a:pt x="1110489" y="0"/>
                  </a:lnTo>
                  <a:lnTo>
                    <a:pt x="1110489" y="7315199"/>
                  </a:lnTo>
                  <a:close/>
                </a:path>
              </a:pathLst>
            </a:custGeom>
            <a:solidFill>
              <a:srgbClr val="23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20000" y="5269801"/>
              <a:ext cx="1134110" cy="2045970"/>
            </a:xfrm>
            <a:custGeom>
              <a:avLst/>
              <a:gdLst/>
              <a:ahLst/>
              <a:cxnLst/>
              <a:rect l="l" t="t" r="r" b="b"/>
              <a:pathLst>
                <a:path w="1134109" h="2045970">
                  <a:moveTo>
                    <a:pt x="1133599" y="2045397"/>
                  </a:moveTo>
                  <a:lnTo>
                    <a:pt x="0" y="2045397"/>
                  </a:lnTo>
                  <a:lnTo>
                    <a:pt x="1133599" y="0"/>
                  </a:lnTo>
                  <a:lnTo>
                    <a:pt x="1133599" y="2045397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Technologies</a:t>
            </a:r>
            <a:r>
              <a:rPr spc="-120" dirty="0"/>
              <a:t> </a:t>
            </a:r>
            <a:r>
              <a:rPr spc="-75" dirty="0"/>
              <a:t>and</a:t>
            </a:r>
            <a:r>
              <a:rPr spc="-114" dirty="0"/>
              <a:t> </a:t>
            </a:r>
            <a:r>
              <a:rPr spc="-35" dirty="0"/>
              <a:t>methodologies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8CE7D9-2ADB-5EEF-C7FB-4365BC878F03}"/>
              </a:ext>
            </a:extLst>
          </p:cNvPr>
          <p:cNvSpPr txBox="1"/>
          <p:nvPr/>
        </p:nvSpPr>
        <p:spPr>
          <a:xfrm>
            <a:off x="533400" y="1524000"/>
            <a:ext cx="8655572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    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   JavaScript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3.11.0,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prediction integrated with APIs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IRMAS Dataset , Medley-solos-DB 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NSynth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Pickle Files (.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)JSON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FilesMusicXML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PDF / MIDI Files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set:-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https://www.upf.edu/web/mtg/irmas 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https://colinraffel.com/projects/lmd/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IRMAS Dataset → 6,705 × 55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ii.     LMD-Clean Subset → 1,270 × 55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iii.    Total Dataset → 7,975 ×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B7F8E0-6203-431E-9035-0ED524C71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>
            <a:extLst>
              <a:ext uri="{FF2B5EF4-FFF2-40B4-BE49-F238E27FC236}">
                <a16:creationId xmlns:a16="http://schemas.microsoft.com/office/drawing/2014/main" id="{CCB93EFB-4480-AEEE-63CC-C0C92A1255A9}"/>
              </a:ext>
            </a:extLst>
          </p:cNvPr>
          <p:cNvGrpSpPr/>
          <p:nvPr/>
        </p:nvGrpSpPr>
        <p:grpSpPr>
          <a:xfrm>
            <a:off x="5485036" y="-4761"/>
            <a:ext cx="4273550" cy="7324725"/>
            <a:chOff x="5485036" y="-4761"/>
            <a:chExt cx="4273550" cy="73247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B541429-1576-F150-72A6-15A05DF6B1D7}"/>
                </a:ext>
              </a:extLst>
            </p:cNvPr>
            <p:cNvSpPr/>
            <p:nvPr/>
          </p:nvSpPr>
          <p:spPr>
            <a:xfrm>
              <a:off x="5489798" y="0"/>
              <a:ext cx="4264025" cy="7315200"/>
            </a:xfrm>
            <a:custGeom>
              <a:avLst/>
              <a:gdLst/>
              <a:ahLst/>
              <a:cxnLst/>
              <a:rect l="l" t="t" r="r" b="b"/>
              <a:pathLst>
                <a:path w="4264025" h="7315200">
                  <a:moveTo>
                    <a:pt x="0" y="7315199"/>
                  </a:moveTo>
                  <a:lnTo>
                    <a:pt x="4263800" y="4469647"/>
                  </a:lnTo>
                </a:path>
                <a:path w="4264025" h="7315200">
                  <a:moveTo>
                    <a:pt x="2028885" y="0"/>
                  </a:moveTo>
                  <a:lnTo>
                    <a:pt x="3327506" y="7315199"/>
                  </a:lnTo>
                </a:path>
              </a:pathLst>
            </a:custGeom>
            <a:ln w="9524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493672A-78F8-2068-2F94-821B8AE1DE79}"/>
                </a:ext>
              </a:extLst>
            </p:cNvPr>
            <p:cNvSpPr/>
            <p:nvPr/>
          </p:nvSpPr>
          <p:spPr>
            <a:xfrm>
              <a:off x="7361232" y="0"/>
              <a:ext cx="2392680" cy="7315200"/>
            </a:xfrm>
            <a:custGeom>
              <a:avLst/>
              <a:gdLst/>
              <a:ahLst/>
              <a:cxnLst/>
              <a:rect l="l" t="t" r="r" b="b"/>
              <a:pathLst>
                <a:path w="2392679" h="7315200">
                  <a:moveTo>
                    <a:pt x="2392366" y="7315199"/>
                  </a:moveTo>
                  <a:lnTo>
                    <a:pt x="0" y="7315199"/>
                  </a:lnTo>
                  <a:lnTo>
                    <a:pt x="2157114" y="0"/>
                  </a:lnTo>
                  <a:lnTo>
                    <a:pt x="2392366" y="8484"/>
                  </a:lnTo>
                  <a:lnTo>
                    <a:pt x="2392366" y="7315199"/>
                  </a:lnTo>
                  <a:close/>
                </a:path>
              </a:pathLst>
            </a:custGeom>
            <a:solidFill>
              <a:srgbClr val="5ECBEF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E0553B3-96B7-DC6C-21E5-74241E328DA2}"/>
                </a:ext>
              </a:extLst>
            </p:cNvPr>
            <p:cNvSpPr/>
            <p:nvPr/>
          </p:nvSpPr>
          <p:spPr>
            <a:xfrm>
              <a:off x="7693378" y="0"/>
              <a:ext cx="2060575" cy="7315200"/>
            </a:xfrm>
            <a:custGeom>
              <a:avLst/>
              <a:gdLst/>
              <a:ahLst/>
              <a:cxnLst/>
              <a:rect l="l" t="t" r="r" b="b"/>
              <a:pathLst>
                <a:path w="2060575" h="7315200">
                  <a:moveTo>
                    <a:pt x="2060221" y="7315199"/>
                  </a:moveTo>
                  <a:lnTo>
                    <a:pt x="1280225" y="7315199"/>
                  </a:lnTo>
                  <a:lnTo>
                    <a:pt x="0" y="0"/>
                  </a:lnTo>
                  <a:lnTo>
                    <a:pt x="2060221" y="0"/>
                  </a:lnTo>
                  <a:lnTo>
                    <a:pt x="2060221" y="7315199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25AFC4A-7A7B-8362-586E-ECF2FE2FBB0A}"/>
                </a:ext>
              </a:extLst>
            </p:cNvPr>
            <p:cNvSpPr/>
            <p:nvPr/>
          </p:nvSpPr>
          <p:spPr>
            <a:xfrm>
              <a:off x="7096375" y="4198853"/>
              <a:ext cx="2657475" cy="3116580"/>
            </a:xfrm>
            <a:custGeom>
              <a:avLst/>
              <a:gdLst/>
              <a:ahLst/>
              <a:cxnLst/>
              <a:rect l="l" t="t" r="r" b="b"/>
              <a:pathLst>
                <a:path w="2657475" h="3116579">
                  <a:moveTo>
                    <a:pt x="2657223" y="3116345"/>
                  </a:moveTo>
                  <a:lnTo>
                    <a:pt x="0" y="3116345"/>
                  </a:lnTo>
                  <a:lnTo>
                    <a:pt x="2657223" y="0"/>
                  </a:lnTo>
                  <a:lnTo>
                    <a:pt x="2657223" y="3116345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087AB462-5CB2-0D6B-23E2-2186BFCC077D}"/>
                </a:ext>
              </a:extLst>
            </p:cNvPr>
            <p:cNvSpPr/>
            <p:nvPr/>
          </p:nvSpPr>
          <p:spPr>
            <a:xfrm>
              <a:off x="7486762" y="0"/>
              <a:ext cx="2266950" cy="7315200"/>
            </a:xfrm>
            <a:custGeom>
              <a:avLst/>
              <a:gdLst/>
              <a:ahLst/>
              <a:cxnLst/>
              <a:rect l="l" t="t" r="r" b="b"/>
              <a:pathLst>
                <a:path w="2266950" h="7315200">
                  <a:moveTo>
                    <a:pt x="2266836" y="7315199"/>
                  </a:moveTo>
                  <a:lnTo>
                    <a:pt x="1976795" y="7315199"/>
                  </a:lnTo>
                  <a:lnTo>
                    <a:pt x="0" y="0"/>
                  </a:lnTo>
                  <a:lnTo>
                    <a:pt x="2266836" y="0"/>
                  </a:lnTo>
                  <a:lnTo>
                    <a:pt x="2266836" y="7315199"/>
                  </a:lnTo>
                  <a:close/>
                </a:path>
              </a:pathLst>
            </a:custGeom>
            <a:solidFill>
              <a:srgbClr val="17B0E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3249284-FB15-4E0D-2A58-9142CE9067F1}"/>
                </a:ext>
              </a:extLst>
            </p:cNvPr>
            <p:cNvSpPr/>
            <p:nvPr/>
          </p:nvSpPr>
          <p:spPr>
            <a:xfrm>
              <a:off x="8858272" y="0"/>
              <a:ext cx="895350" cy="7315200"/>
            </a:xfrm>
            <a:custGeom>
              <a:avLst/>
              <a:gdLst/>
              <a:ahLst/>
              <a:cxnLst/>
              <a:rect l="l" t="t" r="r" b="b"/>
              <a:pathLst>
                <a:path w="895350" h="7315200">
                  <a:moveTo>
                    <a:pt x="895327" y="7315199"/>
                  </a:moveTo>
                  <a:lnTo>
                    <a:pt x="0" y="7315199"/>
                  </a:lnTo>
                  <a:lnTo>
                    <a:pt x="720121" y="0"/>
                  </a:lnTo>
                  <a:lnTo>
                    <a:pt x="895327" y="0"/>
                  </a:lnTo>
                  <a:lnTo>
                    <a:pt x="895327" y="7315199"/>
                  </a:lnTo>
                  <a:close/>
                </a:path>
              </a:pathLst>
            </a:custGeom>
            <a:solidFill>
              <a:srgbClr val="2E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B7FC23D-5995-5072-A3D1-331C21B7C123}"/>
                </a:ext>
              </a:extLst>
            </p:cNvPr>
            <p:cNvSpPr/>
            <p:nvPr/>
          </p:nvSpPr>
          <p:spPr>
            <a:xfrm>
              <a:off x="8643109" y="0"/>
              <a:ext cx="1110615" cy="7315200"/>
            </a:xfrm>
            <a:custGeom>
              <a:avLst/>
              <a:gdLst/>
              <a:ahLst/>
              <a:cxnLst/>
              <a:rect l="l" t="t" r="r" b="b"/>
              <a:pathLst>
                <a:path w="1110615" h="7315200">
                  <a:moveTo>
                    <a:pt x="1110489" y="7315199"/>
                  </a:moveTo>
                  <a:lnTo>
                    <a:pt x="999508" y="7315199"/>
                  </a:lnTo>
                  <a:lnTo>
                    <a:pt x="0" y="0"/>
                  </a:lnTo>
                  <a:lnTo>
                    <a:pt x="1110489" y="0"/>
                  </a:lnTo>
                  <a:lnTo>
                    <a:pt x="1110489" y="7315199"/>
                  </a:lnTo>
                  <a:close/>
                </a:path>
              </a:pathLst>
            </a:custGeom>
            <a:solidFill>
              <a:srgbClr val="23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17F0C57-2D36-3339-ABC8-AD0C6B3A4C0F}"/>
                </a:ext>
              </a:extLst>
            </p:cNvPr>
            <p:cNvSpPr/>
            <p:nvPr/>
          </p:nvSpPr>
          <p:spPr>
            <a:xfrm>
              <a:off x="8620000" y="5269801"/>
              <a:ext cx="1134110" cy="2045970"/>
            </a:xfrm>
            <a:custGeom>
              <a:avLst/>
              <a:gdLst/>
              <a:ahLst/>
              <a:cxnLst/>
              <a:rect l="l" t="t" r="r" b="b"/>
              <a:pathLst>
                <a:path w="1134109" h="2045970">
                  <a:moveTo>
                    <a:pt x="1133599" y="2045397"/>
                  </a:moveTo>
                  <a:lnTo>
                    <a:pt x="0" y="2045397"/>
                  </a:lnTo>
                  <a:lnTo>
                    <a:pt x="1133599" y="0"/>
                  </a:lnTo>
                  <a:lnTo>
                    <a:pt x="1133599" y="2045397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0B97EA92-A618-03D2-C84D-590CEEC4B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Technologies</a:t>
            </a:r>
            <a:r>
              <a:rPr spc="-120" dirty="0"/>
              <a:t> </a:t>
            </a:r>
            <a:r>
              <a:rPr spc="-75" dirty="0"/>
              <a:t>and</a:t>
            </a:r>
            <a:r>
              <a:rPr spc="-114" dirty="0"/>
              <a:t> </a:t>
            </a:r>
            <a:r>
              <a:rPr spc="-35" dirty="0"/>
              <a:t>methodologies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03620B-8454-B7B0-F339-89D705AE0AC7}"/>
              </a:ext>
            </a:extLst>
          </p:cNvPr>
          <p:cNvSpPr txBox="1"/>
          <p:nvPr/>
        </p:nvSpPr>
        <p:spPr>
          <a:xfrm>
            <a:off x="474607" y="1117762"/>
            <a:ext cx="8655572" cy="559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trained on IRMAS, Medley-solos,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NSynth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instrument recognition.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 → WAV conversion, normalization, ICA vocal removal, HPSS separation.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Onset detection for timing, Pitch detection (YIN/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Piptrack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Range- based assignment, Transpose handling, Random Forest, ICA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MFCCs ,Spectral Centroid, ZCR, and Pitch curves to capture tone and melody.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Random Forest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ii. YIN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iii. ICA</a:t>
            </a:r>
          </a:p>
        </p:txBody>
      </p:sp>
    </p:spTree>
    <p:extLst>
      <p:ext uri="{BB962C8B-B14F-4D97-AF65-F5344CB8AC3E}">
        <p14:creationId xmlns:p14="http://schemas.microsoft.com/office/powerpoint/2010/main" val="1807690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3393-6F58-9591-C620-4A44C873F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>
            <a:extLst>
              <a:ext uri="{FF2B5EF4-FFF2-40B4-BE49-F238E27FC236}">
                <a16:creationId xmlns:a16="http://schemas.microsoft.com/office/drawing/2014/main" id="{94C7F960-21C6-DB63-E686-5A3C0C253688}"/>
              </a:ext>
            </a:extLst>
          </p:cNvPr>
          <p:cNvGrpSpPr/>
          <p:nvPr/>
        </p:nvGrpSpPr>
        <p:grpSpPr>
          <a:xfrm>
            <a:off x="5485036" y="-4761"/>
            <a:ext cx="4273550" cy="7324725"/>
            <a:chOff x="5485036" y="-4761"/>
            <a:chExt cx="4273550" cy="73247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B22D87-3ABE-0F4C-2156-2F5973055B33}"/>
                </a:ext>
              </a:extLst>
            </p:cNvPr>
            <p:cNvSpPr/>
            <p:nvPr/>
          </p:nvSpPr>
          <p:spPr>
            <a:xfrm>
              <a:off x="5489798" y="0"/>
              <a:ext cx="4264025" cy="7315200"/>
            </a:xfrm>
            <a:custGeom>
              <a:avLst/>
              <a:gdLst/>
              <a:ahLst/>
              <a:cxnLst/>
              <a:rect l="l" t="t" r="r" b="b"/>
              <a:pathLst>
                <a:path w="4264025" h="7315200">
                  <a:moveTo>
                    <a:pt x="0" y="7315199"/>
                  </a:moveTo>
                  <a:lnTo>
                    <a:pt x="4263800" y="4469647"/>
                  </a:lnTo>
                </a:path>
                <a:path w="4264025" h="7315200">
                  <a:moveTo>
                    <a:pt x="2028885" y="0"/>
                  </a:moveTo>
                  <a:lnTo>
                    <a:pt x="3327506" y="7315199"/>
                  </a:lnTo>
                </a:path>
              </a:pathLst>
            </a:custGeom>
            <a:ln w="9524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C36290F-2C32-818F-3984-015F58F5CF97}"/>
                </a:ext>
              </a:extLst>
            </p:cNvPr>
            <p:cNvSpPr/>
            <p:nvPr/>
          </p:nvSpPr>
          <p:spPr>
            <a:xfrm>
              <a:off x="7361232" y="0"/>
              <a:ext cx="2392680" cy="7315200"/>
            </a:xfrm>
            <a:custGeom>
              <a:avLst/>
              <a:gdLst/>
              <a:ahLst/>
              <a:cxnLst/>
              <a:rect l="l" t="t" r="r" b="b"/>
              <a:pathLst>
                <a:path w="2392679" h="7315200">
                  <a:moveTo>
                    <a:pt x="2392366" y="7315199"/>
                  </a:moveTo>
                  <a:lnTo>
                    <a:pt x="0" y="7315199"/>
                  </a:lnTo>
                  <a:lnTo>
                    <a:pt x="2157114" y="0"/>
                  </a:lnTo>
                  <a:lnTo>
                    <a:pt x="2392366" y="8484"/>
                  </a:lnTo>
                  <a:lnTo>
                    <a:pt x="2392366" y="7315199"/>
                  </a:lnTo>
                  <a:close/>
                </a:path>
              </a:pathLst>
            </a:custGeom>
            <a:solidFill>
              <a:srgbClr val="5ECBEF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4ABFF7B-5D20-0E98-A690-BF3BDE0D4A82}"/>
                </a:ext>
              </a:extLst>
            </p:cNvPr>
            <p:cNvSpPr/>
            <p:nvPr/>
          </p:nvSpPr>
          <p:spPr>
            <a:xfrm>
              <a:off x="7693378" y="0"/>
              <a:ext cx="2060575" cy="7315200"/>
            </a:xfrm>
            <a:custGeom>
              <a:avLst/>
              <a:gdLst/>
              <a:ahLst/>
              <a:cxnLst/>
              <a:rect l="l" t="t" r="r" b="b"/>
              <a:pathLst>
                <a:path w="2060575" h="7315200">
                  <a:moveTo>
                    <a:pt x="2060221" y="7315199"/>
                  </a:moveTo>
                  <a:lnTo>
                    <a:pt x="1280225" y="7315199"/>
                  </a:lnTo>
                  <a:lnTo>
                    <a:pt x="0" y="0"/>
                  </a:lnTo>
                  <a:lnTo>
                    <a:pt x="2060221" y="0"/>
                  </a:lnTo>
                  <a:lnTo>
                    <a:pt x="2060221" y="7315199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0F10230-12B5-A16A-51E7-88DF96D1E8F7}"/>
                </a:ext>
              </a:extLst>
            </p:cNvPr>
            <p:cNvSpPr/>
            <p:nvPr/>
          </p:nvSpPr>
          <p:spPr>
            <a:xfrm>
              <a:off x="7096375" y="4198853"/>
              <a:ext cx="2657475" cy="3116580"/>
            </a:xfrm>
            <a:custGeom>
              <a:avLst/>
              <a:gdLst/>
              <a:ahLst/>
              <a:cxnLst/>
              <a:rect l="l" t="t" r="r" b="b"/>
              <a:pathLst>
                <a:path w="2657475" h="3116579">
                  <a:moveTo>
                    <a:pt x="2657223" y="3116345"/>
                  </a:moveTo>
                  <a:lnTo>
                    <a:pt x="0" y="3116345"/>
                  </a:lnTo>
                  <a:lnTo>
                    <a:pt x="2657223" y="0"/>
                  </a:lnTo>
                  <a:lnTo>
                    <a:pt x="2657223" y="3116345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86F2A23-1507-B973-D6CA-60F73C42708D}"/>
                </a:ext>
              </a:extLst>
            </p:cNvPr>
            <p:cNvSpPr/>
            <p:nvPr/>
          </p:nvSpPr>
          <p:spPr>
            <a:xfrm>
              <a:off x="7486762" y="0"/>
              <a:ext cx="2266950" cy="7315200"/>
            </a:xfrm>
            <a:custGeom>
              <a:avLst/>
              <a:gdLst/>
              <a:ahLst/>
              <a:cxnLst/>
              <a:rect l="l" t="t" r="r" b="b"/>
              <a:pathLst>
                <a:path w="2266950" h="7315200">
                  <a:moveTo>
                    <a:pt x="2266836" y="7315199"/>
                  </a:moveTo>
                  <a:lnTo>
                    <a:pt x="1976795" y="7315199"/>
                  </a:lnTo>
                  <a:lnTo>
                    <a:pt x="0" y="0"/>
                  </a:lnTo>
                  <a:lnTo>
                    <a:pt x="2266836" y="0"/>
                  </a:lnTo>
                  <a:lnTo>
                    <a:pt x="2266836" y="7315199"/>
                  </a:lnTo>
                  <a:close/>
                </a:path>
              </a:pathLst>
            </a:custGeom>
            <a:solidFill>
              <a:srgbClr val="17B0E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BEA7929-DD34-E476-0231-B908ABE940DE}"/>
                </a:ext>
              </a:extLst>
            </p:cNvPr>
            <p:cNvSpPr/>
            <p:nvPr/>
          </p:nvSpPr>
          <p:spPr>
            <a:xfrm>
              <a:off x="8858272" y="0"/>
              <a:ext cx="895350" cy="7315200"/>
            </a:xfrm>
            <a:custGeom>
              <a:avLst/>
              <a:gdLst/>
              <a:ahLst/>
              <a:cxnLst/>
              <a:rect l="l" t="t" r="r" b="b"/>
              <a:pathLst>
                <a:path w="895350" h="7315200">
                  <a:moveTo>
                    <a:pt x="895327" y="7315199"/>
                  </a:moveTo>
                  <a:lnTo>
                    <a:pt x="0" y="7315199"/>
                  </a:lnTo>
                  <a:lnTo>
                    <a:pt x="720121" y="0"/>
                  </a:lnTo>
                  <a:lnTo>
                    <a:pt x="895327" y="0"/>
                  </a:lnTo>
                  <a:lnTo>
                    <a:pt x="895327" y="7315199"/>
                  </a:lnTo>
                  <a:close/>
                </a:path>
              </a:pathLst>
            </a:custGeom>
            <a:solidFill>
              <a:srgbClr val="2E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79F1638-6ADB-1637-FB94-6A492D211855}"/>
                </a:ext>
              </a:extLst>
            </p:cNvPr>
            <p:cNvSpPr/>
            <p:nvPr/>
          </p:nvSpPr>
          <p:spPr>
            <a:xfrm>
              <a:off x="8643109" y="0"/>
              <a:ext cx="1110615" cy="7315200"/>
            </a:xfrm>
            <a:custGeom>
              <a:avLst/>
              <a:gdLst/>
              <a:ahLst/>
              <a:cxnLst/>
              <a:rect l="l" t="t" r="r" b="b"/>
              <a:pathLst>
                <a:path w="1110615" h="7315200">
                  <a:moveTo>
                    <a:pt x="1110489" y="7315199"/>
                  </a:moveTo>
                  <a:lnTo>
                    <a:pt x="999508" y="7315199"/>
                  </a:lnTo>
                  <a:lnTo>
                    <a:pt x="0" y="0"/>
                  </a:lnTo>
                  <a:lnTo>
                    <a:pt x="1110489" y="0"/>
                  </a:lnTo>
                  <a:lnTo>
                    <a:pt x="1110489" y="7315199"/>
                  </a:lnTo>
                  <a:close/>
                </a:path>
              </a:pathLst>
            </a:custGeom>
            <a:solidFill>
              <a:srgbClr val="23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E2594A9-C715-7BD6-A920-912276BD7EA6}"/>
                </a:ext>
              </a:extLst>
            </p:cNvPr>
            <p:cNvSpPr/>
            <p:nvPr/>
          </p:nvSpPr>
          <p:spPr>
            <a:xfrm>
              <a:off x="8620000" y="5269801"/>
              <a:ext cx="1134110" cy="2045970"/>
            </a:xfrm>
            <a:custGeom>
              <a:avLst/>
              <a:gdLst/>
              <a:ahLst/>
              <a:cxnLst/>
              <a:rect l="l" t="t" r="r" b="b"/>
              <a:pathLst>
                <a:path w="1134109" h="2045970">
                  <a:moveTo>
                    <a:pt x="1133599" y="2045397"/>
                  </a:moveTo>
                  <a:lnTo>
                    <a:pt x="0" y="2045397"/>
                  </a:lnTo>
                  <a:lnTo>
                    <a:pt x="1133599" y="0"/>
                  </a:lnTo>
                  <a:lnTo>
                    <a:pt x="1133599" y="2045397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51A06FE5-0DAD-FB86-A696-A71B0B409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Implementation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85181F-499B-5B75-F89B-E4C4C98B5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9" y="1190392"/>
            <a:ext cx="4925372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19AE5A5E-2B15-1C56-A400-AF2DCF4E3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7" y="4195805"/>
            <a:ext cx="49285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A65B5B-5BB6-FE9F-C19A-171F382BC5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95" y="4195804"/>
            <a:ext cx="4548718" cy="28765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F520A9-7673-1E38-C3B1-DFDD71E1FD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012" y="1190392"/>
            <a:ext cx="4515759" cy="274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3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664BF59-A40D-3EF4-B223-577D86FBC5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4866" y="1219200"/>
            <a:ext cx="8516734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complete solution to convert raw music (MP3) into instrument-specific sheet music.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signal processing and AI, we achieve vocal removal, instrument detection, and note transcription.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choose instruments and change pitch/tune, making the system flexible and practical.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can be exported as readable sheet music (PDF) or MIDI file, helping musicians, learners, and creators.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music learning and performance more accessible, accurate, and user-friendly.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8289FA-7369-2E1D-658B-B4122795E6E0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444966" y="1140340"/>
            <a:ext cx="8229600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 Y. Zhang and D.-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“Selected Features for Classifying Environmental Audio Data with Random Forest,”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Open Automation and Control Systems Journal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7, pp. 135–142, 2015.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https://benthamopen.com/contents/pdf/TOAUTOCJ/TOAUTOCJ-7-135.pdf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 M.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E. Gómez, and J. Urbano, “Music Information Retrieval: Recent Developments and Applications,”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Foundations and Trends in Information Retrieval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8, no. 2–3, pp. 127–261, 2014.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URL:-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https://www.nowpublishers.com/article/DownloadSummary/INR-042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 A. Hyvärinen, “Independent Component Analysis: Recent Advances,” 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Transactions of the Royal Society 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371, 1984, p. 20110534, Feb. 2013.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URL:- 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https://pmc.ncbi.nlm.nih.gov/articles/PMC3538438/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310" y="3201736"/>
            <a:ext cx="2701925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Thank</a:t>
            </a:r>
            <a:r>
              <a:rPr spc="-175" dirty="0"/>
              <a:t> </a:t>
            </a:r>
            <a:r>
              <a:rPr spc="-35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</TotalTime>
  <Words>1225</Words>
  <Application>Microsoft Office PowerPoint</Application>
  <PresentationFormat>Custom</PresentationFormat>
  <Paragraphs>123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NOTEFY – Companion for your music</vt:lpstr>
      <vt:lpstr>Outline</vt:lpstr>
      <vt:lpstr>Sustainable Development Goals (SDG)Mapped</vt:lpstr>
      <vt:lpstr>Introduction</vt:lpstr>
      <vt:lpstr>Introduction</vt:lpstr>
      <vt:lpstr>Literature Survey of the existing system</vt:lpstr>
      <vt:lpstr>Literature Survey of the existing system</vt:lpstr>
      <vt:lpstr>Limitations of existing systems</vt:lpstr>
      <vt:lpstr>Problem statement</vt:lpstr>
      <vt:lpstr>System Design</vt:lpstr>
      <vt:lpstr>Technologies and methodologies</vt:lpstr>
      <vt:lpstr>Technologies and methodologies</vt:lpstr>
      <vt:lpstr>Implementation</vt:lpstr>
      <vt:lpstr>Conclusion</vt:lpstr>
      <vt:lpstr>References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ppt.ppt</dc:title>
  <dc:creator>Ranjana Yadav</dc:creator>
  <cp:keywords>DAGxCVYUOzA,BAF2Zm7Hy3Q,0</cp:keywords>
  <cp:lastModifiedBy>ranjanay322@gmail.com</cp:lastModifiedBy>
  <cp:revision>52</cp:revision>
  <dcterms:created xsi:type="dcterms:W3CDTF">2025-08-25T02:46:03Z</dcterms:created>
  <dcterms:modified xsi:type="dcterms:W3CDTF">2025-10-06T02:47:35Z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2025-08-25T00:00:00Z</vt:filetime>
  </property>
  <property fmtid="{D5CDD505-2E9C-101B-9397-08002B2CF9AE}" pid="3" name="Creator">
    <vt:lpwstr>Canva</vt:lpwstr>
  </property>
  <property fmtid="{D5CDD505-2E9C-101B-9397-08002B2CF9AE}" pid="4" name="LastSaved">
    <vt:filetime>2025-08-25T00:00:00Z</vt:filetime>
  </property>
  <property fmtid="{D5CDD505-2E9C-101B-9397-08002B2CF9AE}" pid="5" name="Producer">
    <vt:lpwstr>Canva</vt:lpwstr>
  </property>
</Properties>
</file>