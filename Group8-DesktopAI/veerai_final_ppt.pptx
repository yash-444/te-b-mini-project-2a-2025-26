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0" r:id="rId6"/>
    <p:sldId id="262" r:id="rId7"/>
    <p:sldId id="278" r:id="rId8"/>
    <p:sldId id="266" r:id="rId9"/>
    <p:sldId id="281" r:id="rId10"/>
    <p:sldId id="268" r:id="rId11"/>
    <p:sldId id="269" r:id="rId12"/>
    <p:sldId id="270" r:id="rId13"/>
    <p:sldId id="283" r:id="rId14"/>
    <p:sldId id="284" r:id="rId15"/>
    <p:sldId id="274" r:id="rId16"/>
    <p:sldId id="285" r:id="rId17"/>
    <p:sldId id="286" r:id="rId18"/>
    <p:sldId id="275" r:id="rId19"/>
    <p:sldId id="276" r:id="rId20"/>
    <p:sldId id="277" r:id="rId21"/>
  </p:sldIdLst>
  <p:sldSz cx="9753600" cy="7315200"/>
  <p:notesSz cx="6858000" cy="9144000"/>
  <p:embeddedFontLst>
    <p:embeddedFont>
      <p:font typeface="Times New Roman Bold" panose="02020803070505020304" pitchFamily="18" charset="0"/>
      <p:regular r:id="rId22"/>
      <p:bold r:id="rId23"/>
    </p:embeddedFont>
    <p:embeddedFont>
      <p:font typeface="Times New Roman MT" panose="020B0604020202020204" charset="0"/>
      <p:regular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16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1374" y="2151640"/>
            <a:ext cx="8800080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348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VeerAI</a:t>
            </a:r>
            <a:r>
              <a:rPr lang="en-US" sz="348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algn="ctr">
              <a:lnSpc>
                <a:spcPts val="3026"/>
              </a:lnSpc>
            </a:pPr>
            <a:r>
              <a:rPr lang="en-US" sz="271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Offline Desktop Based Personal AI</a:t>
            </a:r>
          </a:p>
          <a:p>
            <a:pPr algn="ctr">
              <a:lnSpc>
                <a:spcPts val="3891"/>
              </a:lnSpc>
            </a:pPr>
            <a:endParaRPr lang="en-US" sz="348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3891"/>
              </a:lnSpc>
            </a:pPr>
            <a:r>
              <a:rPr lang="en-US" sz="3486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ctr">
              <a:lnSpc>
                <a:spcPts val="2593"/>
              </a:lnSpc>
            </a:pPr>
            <a:r>
              <a:rPr lang="en-US" sz="23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Rugved </a:t>
            </a:r>
            <a:r>
              <a:rPr lang="en-US" sz="2325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Sapkal</a:t>
            </a:r>
            <a:r>
              <a:rPr lang="en-US" sz="23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            – 24207011</a:t>
            </a:r>
          </a:p>
          <a:p>
            <a:pPr algn="ctr">
              <a:lnSpc>
                <a:spcPts val="2593"/>
              </a:lnSpc>
            </a:pPr>
            <a:r>
              <a:rPr lang="en-US" sz="23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Atharv Parab                – 23107084</a:t>
            </a:r>
          </a:p>
          <a:p>
            <a:pPr algn="ctr">
              <a:lnSpc>
                <a:spcPts val="2593"/>
              </a:lnSpc>
            </a:pPr>
            <a:r>
              <a:rPr lang="en-US" sz="23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Abbas Sangameshwari – 23107116</a:t>
            </a:r>
          </a:p>
          <a:p>
            <a:pPr algn="ctr">
              <a:lnSpc>
                <a:spcPts val="2593"/>
              </a:lnSpc>
            </a:pPr>
            <a:endParaRPr lang="en-US" sz="2325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593"/>
              </a:lnSpc>
            </a:pPr>
            <a:endParaRPr lang="en-US" sz="2325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593"/>
              </a:lnSpc>
            </a:pPr>
            <a:endParaRPr lang="en-US" sz="2325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593"/>
              </a:lnSpc>
            </a:pPr>
            <a:endParaRPr lang="en-US" sz="2325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026"/>
              </a:lnSpc>
            </a:pPr>
            <a:r>
              <a:rPr lang="en-US" sz="271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Guide</a:t>
            </a:r>
          </a:p>
          <a:p>
            <a:pPr algn="ctr">
              <a:lnSpc>
                <a:spcPts val="2593"/>
              </a:lnSpc>
            </a:pPr>
            <a:r>
              <a:rPr lang="en-US" sz="23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Ms. Aishwarya Londhe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2304" y="1676352"/>
            <a:ext cx="9790462" cy="24575"/>
            <a:chOff x="0" y="0"/>
            <a:chExt cx="13053949" cy="327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53949" cy="32766"/>
            </a:xfrm>
            <a:custGeom>
              <a:avLst/>
              <a:gdLst/>
              <a:ahLst/>
              <a:cxnLst/>
              <a:rect l="l" t="t" r="r" b="b"/>
              <a:pathLst>
                <a:path w="13053949" h="32766">
                  <a:moveTo>
                    <a:pt x="16383" y="0"/>
                  </a:moveTo>
                  <a:lnTo>
                    <a:pt x="13037565" y="0"/>
                  </a:lnTo>
                  <a:cubicBezTo>
                    <a:pt x="13046582" y="0"/>
                    <a:pt x="13053949" y="7366"/>
                    <a:pt x="13053949" y="16383"/>
                  </a:cubicBezTo>
                  <a:cubicBezTo>
                    <a:pt x="13053949" y="25400"/>
                    <a:pt x="13046582" y="32766"/>
                    <a:pt x="13037565" y="32766"/>
                  </a:cubicBezTo>
                  <a:lnTo>
                    <a:pt x="16383" y="32766"/>
                  </a:lnTo>
                  <a:cubicBezTo>
                    <a:pt x="7366" y="32766"/>
                    <a:pt x="0" y="25527"/>
                    <a:pt x="0" y="16383"/>
                  </a:cubicBezTo>
                  <a:cubicBezTo>
                    <a:pt x="0" y="7239"/>
                    <a:pt x="7366" y="0"/>
                    <a:pt x="163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39646" y="135339"/>
            <a:ext cx="7459027" cy="1534859"/>
            <a:chOff x="0" y="0"/>
            <a:chExt cx="9945369" cy="2046479"/>
          </a:xfrm>
        </p:grpSpPr>
        <p:sp>
          <p:nvSpPr>
            <p:cNvPr id="7" name="Freeform 7" descr="image.jpeg"/>
            <p:cNvSpPr/>
            <p:nvPr/>
          </p:nvSpPr>
          <p:spPr>
            <a:xfrm>
              <a:off x="0" y="0"/>
              <a:ext cx="9945370" cy="2046478"/>
            </a:xfrm>
            <a:custGeom>
              <a:avLst/>
              <a:gdLst/>
              <a:ahLst/>
              <a:cxnLst/>
              <a:rect l="l" t="t" r="r" b="b"/>
              <a:pathLst>
                <a:path w="9945370" h="2046478">
                  <a:moveTo>
                    <a:pt x="0" y="0"/>
                  </a:moveTo>
                  <a:lnTo>
                    <a:pt x="9945370" y="0"/>
                  </a:lnTo>
                  <a:lnTo>
                    <a:pt x="9945370" y="2046478"/>
                  </a:lnTo>
                  <a:lnTo>
                    <a:pt x="0" y="2046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6" r="-17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2912" y="383739"/>
            <a:ext cx="8800079" cy="538810"/>
            <a:chOff x="0" y="0"/>
            <a:chExt cx="11733439" cy="7184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33439" cy="718413"/>
            </a:xfrm>
            <a:custGeom>
              <a:avLst/>
              <a:gdLst/>
              <a:ahLst/>
              <a:cxnLst/>
              <a:rect l="l" t="t" r="r" b="b"/>
              <a:pathLst>
                <a:path w="11733439" h="718413">
                  <a:moveTo>
                    <a:pt x="0" y="0"/>
                  </a:moveTo>
                  <a:lnTo>
                    <a:pt x="11733439" y="0"/>
                  </a:lnTo>
                  <a:lnTo>
                    <a:pt x="11733439" y="718413"/>
                  </a:lnTo>
                  <a:lnTo>
                    <a:pt x="0" y="718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1733439" cy="708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91"/>
                </a:lnSpc>
              </a:pPr>
              <a:r>
                <a:rPr lang="en-US" sz="348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2912" y="926728"/>
            <a:ext cx="9044611" cy="492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Introduction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Literature Survey of the existing systems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Limitations of the existing systems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Problem statement 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System Design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Technologies and methodologies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Implementation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Conclusion </a:t>
            </a:r>
          </a:p>
          <a:p>
            <a:pPr marL="430212" indent="-322262" algn="just" defTabSz="503237">
              <a:lnSpc>
                <a:spcPct val="150000"/>
              </a:lnSpc>
              <a:buSzPct val="100000"/>
              <a:buChar char="▪"/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References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10" name="Introduction">
            <a:extLst>
              <a:ext uri="{FF2B5EF4-FFF2-40B4-BE49-F238E27FC236}">
                <a16:creationId xmlns:a16="http://schemas.microsoft.com/office/drawing/2014/main" id="{BD7D16D5-0B28-E064-C4BB-AE27673343DE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In most universities, exam results are published as PDF documents or Excel sheets containing student details, paper codes, marks, and result status.…">
            <a:extLst>
              <a:ext uri="{FF2B5EF4-FFF2-40B4-BE49-F238E27FC236}">
                <a16:creationId xmlns:a16="http://schemas.microsoft.com/office/drawing/2014/main" id="{E7AB000A-DF5A-7A51-77E7-E449BFD691EE}"/>
              </a:ext>
            </a:extLst>
          </p:cNvPr>
          <p:cNvSpPr txBox="1"/>
          <p:nvPr/>
        </p:nvSpPr>
        <p:spPr>
          <a:xfrm>
            <a:off x="381000" y="1600200"/>
            <a:ext cx="8609331" cy="3175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 algn="just">
              <a:spcBef>
                <a:spcPts val="500"/>
              </a:spcBef>
              <a:buSzPct val="100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In today’s digital era, users rely on virtual assistants for everyday tasks. However, most popular assistants like Siri, Alexa, and Google Assistant are cloud-dependent, raising privacy and latency concerns.</a:t>
            </a:r>
          </a:p>
          <a:p>
            <a:pPr marL="342900" indent="-342900" algn="just">
              <a:spcBef>
                <a:spcPts val="500"/>
              </a:spcBef>
              <a:buSzPct val="100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342900" indent="-342900" algn="just">
              <a:spcBef>
                <a:spcPts val="500"/>
              </a:spcBef>
              <a:buSzPct val="100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VeerAI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solves this by offering a fully offline, privacy-first AI assistant that runs locally, integrating deeply with the user’s desktop environment.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Objectives:…">
            <a:extLst>
              <a:ext uri="{FF2B5EF4-FFF2-40B4-BE49-F238E27FC236}">
                <a16:creationId xmlns:a16="http://schemas.microsoft.com/office/drawing/2014/main" id="{B8D1631D-48A5-FC07-27D7-89947E0EE1EB}"/>
              </a:ext>
            </a:extLst>
          </p:cNvPr>
          <p:cNvSpPr txBox="1"/>
          <p:nvPr/>
        </p:nvSpPr>
        <p:spPr>
          <a:xfrm>
            <a:off x="458469" y="1403350"/>
            <a:ext cx="9160511" cy="534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just" defTabSz="914400">
              <a:spcBef>
                <a:spcPts val="500"/>
              </a:spcBef>
              <a:buSzPct val="100000"/>
              <a:buChar char="➢"/>
              <a:defRPr sz="2400" b="1">
                <a:latin typeface="+mj-lt"/>
                <a:ea typeface="+mj-ea"/>
                <a:cs typeface="+mj-cs"/>
                <a:sym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 algn="just" defTabSz="914400">
              <a:spcBef>
                <a:spcPts val="400"/>
              </a:spcBef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 dirty="0"/>
          </a:p>
          <a:p>
            <a:pPr marL="342900" indent="-342900" algn="just">
              <a:spcBef>
                <a:spcPts val="5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To enable offline AI processing using  local LLM (Llama 3 via Ollama) for natural language understanding.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ts val="4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 dirty="0"/>
          </a:p>
          <a:p>
            <a:pPr marL="342900" indent="-342900" algn="just">
              <a:spcBef>
                <a:spcPts val="5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implement persistent memory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ChromaDB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and PostgreSQL for context-aware interactions.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ts val="4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 dirty="0"/>
          </a:p>
          <a:p>
            <a:pPr marL="342900" indent="-342900" algn="just">
              <a:spcBef>
                <a:spcPts val="4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To automate desktop tasks through modular actuators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APScheduler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for seamless task execution.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ts val="4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 dirty="0"/>
          </a:p>
          <a:p>
            <a:pPr marL="342900" indent="-342900" algn="just" defTabSz="914400">
              <a:spcBef>
                <a:spcPts val="500"/>
              </a:spcBef>
              <a:buSzPct val="136000"/>
              <a:buFont typeface="Arial"/>
              <a:buChar char="•"/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user privacy and data security by processing all information locally without cloud dependence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Introduction">
            <a:extLst>
              <a:ext uri="{FF2B5EF4-FFF2-40B4-BE49-F238E27FC236}">
                <a16:creationId xmlns:a16="http://schemas.microsoft.com/office/drawing/2014/main" id="{4BECBDAC-2AD5-59B0-3A6D-920BD25ED1BF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76DE-9A75-5F50-CFB2-C065C6E6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3C1284-AC85-8327-7864-936FC371A05C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858B78-502F-2014-4808-4346DF0B089F}"/>
              </a:ext>
            </a:extLst>
          </p:cNvPr>
          <p:cNvGrpSpPr/>
          <p:nvPr/>
        </p:nvGrpSpPr>
        <p:grpSpPr>
          <a:xfrm>
            <a:off x="227229" y="198061"/>
            <a:ext cx="8800080" cy="538811"/>
            <a:chOff x="0" y="0"/>
            <a:chExt cx="11733440" cy="7184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EC3C25-46D8-E4C0-019F-7F2488102001}"/>
                </a:ext>
              </a:extLst>
            </p:cNvPr>
            <p:cNvSpPr/>
            <p:nvPr/>
          </p:nvSpPr>
          <p:spPr>
            <a:xfrm>
              <a:off x="0" y="0"/>
              <a:ext cx="11733440" cy="718415"/>
            </a:xfrm>
            <a:custGeom>
              <a:avLst/>
              <a:gdLst/>
              <a:ahLst/>
              <a:cxnLst/>
              <a:rect l="l" t="t" r="r" b="b"/>
              <a:pathLst>
                <a:path w="11733440" h="718415">
                  <a:moveTo>
                    <a:pt x="0" y="0"/>
                  </a:moveTo>
                  <a:lnTo>
                    <a:pt x="11733440" y="0"/>
                  </a:lnTo>
                  <a:lnTo>
                    <a:pt x="11733440" y="718415"/>
                  </a:lnTo>
                  <a:lnTo>
                    <a:pt x="0" y="71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DE6ED1-40F6-6F7B-4145-017E2B943810}"/>
                </a:ext>
              </a:extLst>
            </p:cNvPr>
            <p:cNvSpPr txBox="1"/>
            <p:nvPr/>
          </p:nvSpPr>
          <p:spPr>
            <a:xfrm>
              <a:off x="0" y="9525"/>
              <a:ext cx="11733440" cy="708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91"/>
                </a:lnSpc>
              </a:pPr>
              <a:r>
                <a:rPr lang="en-US" sz="348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Literature Survey of the existing system</a:t>
              </a:r>
            </a:p>
          </p:txBody>
        </p:sp>
      </p:grpSp>
      <p:graphicFrame>
        <p:nvGraphicFramePr>
          <p:cNvPr id="6" name="Table 1">
            <a:extLst>
              <a:ext uri="{FF2B5EF4-FFF2-40B4-BE49-F238E27FC236}">
                <a16:creationId xmlns:a16="http://schemas.microsoft.com/office/drawing/2014/main" id="{6DB2371C-D772-C721-6E30-E1B8034B5D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146732"/>
              </p:ext>
            </p:extLst>
          </p:nvPr>
        </p:nvGraphicFramePr>
        <p:xfrm>
          <a:off x="413544" y="840564"/>
          <a:ext cx="8926511" cy="6157912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4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0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Sr. No.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Title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Outcomes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Result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defRPr sz="1800"/>
                      </a:pPr>
                      <a:r>
                        <a:rPr sz="15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for Intelligent Personal Assistant​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Sharma, A. &amp; Gupta, R.​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500">
                          <a:latin typeface="+mj-lt"/>
                          <a:ea typeface="+mj-ea"/>
                          <a:cs typeface="+mj-cs"/>
                          <a:sym typeface="Times New Roman"/>
                        </a:defRPr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on-device NLP for core processing with selective cloud fallback for heavy tasks. Utilized context retention and adaptive learning modules to improve responsiveness.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data privacy, reduced latency, and improved continuity in user interactions.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hybrid model achieved a balance between performance and privacy, demonstrating high accuracy even with limited internet connectivity.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defRPr sz="1800"/>
                      </a:pPr>
                      <a:r>
                        <a:rPr sz="15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Mycroft: Open Source AI Assistant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Mycroft AI Team​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15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20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22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a modular, open-source framework using rule-based intent parsing and plugin-based skill extensions for local execution.</a:t>
                      </a:r>
                      <a:endParaRPr sz="15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 offline, customizable AI interactions with community-driven development.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Delivered strong privacy and flexibility, though personalization and contextual understanding remain limited.</a:t>
                      </a:r>
                      <a:endParaRPr sz="15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9167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7229" y="198061"/>
            <a:ext cx="8800080" cy="538811"/>
            <a:chOff x="0" y="0"/>
            <a:chExt cx="11733440" cy="7184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33440" cy="718415"/>
            </a:xfrm>
            <a:custGeom>
              <a:avLst/>
              <a:gdLst/>
              <a:ahLst/>
              <a:cxnLst/>
              <a:rect l="l" t="t" r="r" b="b"/>
              <a:pathLst>
                <a:path w="11733440" h="718415">
                  <a:moveTo>
                    <a:pt x="0" y="0"/>
                  </a:moveTo>
                  <a:lnTo>
                    <a:pt x="11733440" y="0"/>
                  </a:lnTo>
                  <a:lnTo>
                    <a:pt x="11733440" y="718415"/>
                  </a:lnTo>
                  <a:lnTo>
                    <a:pt x="0" y="71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1733440" cy="708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91"/>
                </a:lnSpc>
              </a:pPr>
              <a:r>
                <a:rPr lang="en-US" sz="348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Literature Survey of the existing system</a:t>
              </a:r>
            </a:p>
          </p:txBody>
        </p:sp>
      </p:grpSp>
      <p:graphicFrame>
        <p:nvGraphicFramePr>
          <p:cNvPr id="7" name="Table 1">
            <a:extLst>
              <a:ext uri="{FF2B5EF4-FFF2-40B4-BE49-F238E27FC236}">
                <a16:creationId xmlns:a16="http://schemas.microsoft.com/office/drawing/2014/main" id="{6E2904C6-5FFA-ABF2-62A3-4616F475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368973"/>
              </p:ext>
            </p:extLst>
          </p:nvPr>
        </p:nvGraphicFramePr>
        <p:xfrm>
          <a:off x="413544" y="840564"/>
          <a:ext cx="8926511" cy="6157912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4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0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Sr. No.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Title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Outcomes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Result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defRPr sz="1800"/>
                      </a:pPr>
                      <a:r>
                        <a:rPr sz="1500" b="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3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Whisper.cpp: Efficient STT Model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Radford et al. (OpenAI)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1500" b="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2022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the Whisper speech-to-text model into a lightweight C++ implementation for on-device inference without cloud dependency.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reliable offline speech recognition with reduced computational overhead.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high transcription accuracy and low latency, making it suitable for real-time local AI applications.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defRPr sz="1800"/>
                      </a:pPr>
                      <a:r>
                        <a:rPr sz="1500" b="0" i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4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Rhasspy</a:t>
                      </a:r>
                      <a:r>
                        <a:rPr lang="en-IN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Offline Voice Assistant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15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Verspoor</a:t>
                      </a:r>
                      <a:r>
                        <a:rPr lang="en-IN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1500" b="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2021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open-source, modular speech assistant framework supporting multiple speech recognition and intent parsing backends.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fully offline, customizable alternative to cloud-based assistants.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effective local speech processing and automation, though limited by smaller model scalability.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75326-BB35-1828-A12A-C6639DC4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A9468B-C041-F587-0074-8B5DB302D39B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9F4AADC-1C7C-8F8B-E02D-D570334657B7}"/>
              </a:ext>
            </a:extLst>
          </p:cNvPr>
          <p:cNvGrpSpPr/>
          <p:nvPr/>
        </p:nvGrpSpPr>
        <p:grpSpPr>
          <a:xfrm>
            <a:off x="227229" y="198061"/>
            <a:ext cx="8800080" cy="538811"/>
            <a:chOff x="0" y="0"/>
            <a:chExt cx="11733440" cy="7184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F744472-8577-9E60-1DE0-5ED2D89DE47E}"/>
                </a:ext>
              </a:extLst>
            </p:cNvPr>
            <p:cNvSpPr/>
            <p:nvPr/>
          </p:nvSpPr>
          <p:spPr>
            <a:xfrm>
              <a:off x="0" y="0"/>
              <a:ext cx="11733440" cy="718415"/>
            </a:xfrm>
            <a:custGeom>
              <a:avLst/>
              <a:gdLst/>
              <a:ahLst/>
              <a:cxnLst/>
              <a:rect l="l" t="t" r="r" b="b"/>
              <a:pathLst>
                <a:path w="11733440" h="718415">
                  <a:moveTo>
                    <a:pt x="0" y="0"/>
                  </a:moveTo>
                  <a:lnTo>
                    <a:pt x="11733440" y="0"/>
                  </a:lnTo>
                  <a:lnTo>
                    <a:pt x="11733440" y="718415"/>
                  </a:lnTo>
                  <a:lnTo>
                    <a:pt x="0" y="71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BF4DA4-E9E2-41B8-D270-4AAE9501A2A0}"/>
                </a:ext>
              </a:extLst>
            </p:cNvPr>
            <p:cNvSpPr txBox="1"/>
            <p:nvPr/>
          </p:nvSpPr>
          <p:spPr>
            <a:xfrm>
              <a:off x="0" y="9525"/>
              <a:ext cx="11733440" cy="708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91"/>
                </a:lnSpc>
              </a:pPr>
              <a:r>
                <a:rPr lang="en-US" sz="348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Literature Survey of the existing system</a:t>
              </a:r>
            </a:p>
          </p:txBody>
        </p:sp>
      </p:grpSp>
      <p:graphicFrame>
        <p:nvGraphicFramePr>
          <p:cNvPr id="7" name="Table 1">
            <a:extLst>
              <a:ext uri="{FF2B5EF4-FFF2-40B4-BE49-F238E27FC236}">
                <a16:creationId xmlns:a16="http://schemas.microsoft.com/office/drawing/2014/main" id="{79724491-5741-1BE4-0A01-C5B862B5D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4898850"/>
              </p:ext>
            </p:extLst>
          </p:nvPr>
        </p:nvGraphicFramePr>
        <p:xfrm>
          <a:off x="413544" y="840564"/>
          <a:ext cx="8926511" cy="3551237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4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0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Sr. No.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Title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Outcomes</a:t>
                      </a:r>
                      <a:endParaRPr sz="2000" b="1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sz="2000" b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Result</a:t>
                      </a: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5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Personal AI using On-Device LLMs</a:t>
                      </a:r>
                      <a:endParaRPr sz="1500" b="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de-DE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Chen, L., Huang, Y., &amp; Li, X.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defRPr sz="1800"/>
                      </a:pPr>
                      <a:r>
                        <a:rPr sz="150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202</a:t>
                      </a:r>
                      <a:r>
                        <a:rPr lang="en-US" sz="1500" i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Times New Roman"/>
                        </a:rPr>
                        <a:t>0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local LLM architecture leveraging on-device computation and encryption-based data isolation.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user data confidentiality while maintaining model performance.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lang="en-US" sz="15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Validated that on-device AI can preserve privacy without significant accuracy trade-offs.</a:t>
                      </a:r>
                      <a:endParaRPr sz="1500" i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19050" marR="19050" marT="19050" marB="1905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61110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B0020-6D18-48A3-5D22-A42E3734D86A}"/>
              </a:ext>
            </a:extLst>
          </p:cNvPr>
          <p:cNvSpPr txBox="1"/>
          <p:nvPr/>
        </p:nvSpPr>
        <p:spPr>
          <a:xfrm>
            <a:off x="503236" y="1523999"/>
            <a:ext cx="79549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 Most assistants require constant cloud connectivity, failing in offline or low-network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 User data is processed and stored on remote servers, raising serious privacy and security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 Awareness: Assistants lack long-term memory, forcing users to repeat information across sessions.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 System Integration: Unable to perform deep local operations such as file management or context-based desktop actions.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ntroduction">
            <a:extLst>
              <a:ext uri="{FF2B5EF4-FFF2-40B4-BE49-F238E27FC236}">
                <a16:creationId xmlns:a16="http://schemas.microsoft.com/office/drawing/2014/main" id="{9CA704D0-CB7F-876F-2D29-CAAB90DDDFB7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B973-B280-79FA-FC76-4DE4B5DE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7D06C6-9A04-114E-CFDF-74980EBB9FE8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0D4CB-98F7-2941-C91B-61D9CD2FB277}"/>
              </a:ext>
            </a:extLst>
          </p:cNvPr>
          <p:cNvSpPr txBox="1"/>
          <p:nvPr/>
        </p:nvSpPr>
        <p:spPr>
          <a:xfrm>
            <a:off x="503236" y="1523999"/>
            <a:ext cx="79549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Features: AI capabilities (chat, voice, automation, creativity) are split across multiple tools with no unified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Customization: Proprietary ecosystems prevent users from adding new features or modifying assistant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Resource Requirements: Some offline models demand powerful hardware, limiting accessibility for average users.</a:t>
            </a:r>
          </a:p>
        </p:txBody>
      </p:sp>
      <p:sp>
        <p:nvSpPr>
          <p:cNvPr id="4" name="Introduction">
            <a:extLst>
              <a:ext uri="{FF2B5EF4-FFF2-40B4-BE49-F238E27FC236}">
                <a16:creationId xmlns:a16="http://schemas.microsoft.com/office/drawing/2014/main" id="{1C1515B7-2F63-491E-8A45-84C30C340CA4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631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5" name="Introduction">
            <a:extLst>
              <a:ext uri="{FF2B5EF4-FFF2-40B4-BE49-F238E27FC236}">
                <a16:creationId xmlns:a16="http://schemas.microsoft.com/office/drawing/2014/main" id="{7D41F9FF-FE6F-7BC5-93A8-702A2BA03D12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A1486-3D93-4BB5-1225-E25FABA82AC5}"/>
              </a:ext>
            </a:extLst>
          </p:cNvPr>
          <p:cNvSpPr txBox="1"/>
          <p:nvPr/>
        </p:nvSpPr>
        <p:spPr>
          <a:xfrm>
            <a:off x="503236" y="1523998"/>
            <a:ext cx="8793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virtual assistants depend on cloud servers, compromising privacy, speed, and offline usability.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lack local integration, context awareness, customization, creating a need for a secure, offline, and intelligent desktop assistant that ensures privacy with full functionality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ntroduction">
            <a:extLst>
              <a:ext uri="{FF2B5EF4-FFF2-40B4-BE49-F238E27FC236}">
                <a16:creationId xmlns:a16="http://schemas.microsoft.com/office/drawing/2014/main" id="{A783B5F9-2417-32F6-FACE-8CA379222B6D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B9E2F06-60DB-9370-E2B4-AA91B2469BAB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495A0-CCFD-A6DD-E4D2-B5FEAEDB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7" t="22222" r="12436" b="22222"/>
          <a:stretch>
            <a:fillRect/>
          </a:stretch>
        </p:blipFill>
        <p:spPr>
          <a:xfrm>
            <a:off x="152400" y="1447800"/>
            <a:ext cx="9132570" cy="388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Introduction">
            <a:extLst>
              <a:ext uri="{FF2B5EF4-FFF2-40B4-BE49-F238E27FC236}">
                <a16:creationId xmlns:a16="http://schemas.microsoft.com/office/drawing/2014/main" id="{56DA7D7F-CF5E-D055-2AE3-99E0BBE33E7B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2CA07-19ED-5612-B171-D379CFA60EFD}"/>
              </a:ext>
            </a:extLst>
          </p:cNvPr>
          <p:cNvSpPr txBox="1"/>
          <p:nvPr/>
        </p:nvSpPr>
        <p:spPr>
          <a:xfrm>
            <a:off x="503237" y="1304213"/>
            <a:ext cx="800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EA640-E4F7-1CFD-0024-6A96944FC95E}"/>
              </a:ext>
            </a:extLst>
          </p:cNvPr>
          <p:cNvSpPr txBox="1"/>
          <p:nvPr/>
        </p:nvSpPr>
        <p:spPr>
          <a:xfrm>
            <a:off x="503237" y="2932272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Electron.js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&amp; JavaScript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D5870-E74F-449D-861B-C57DA8CA420C}"/>
              </a:ext>
            </a:extLst>
          </p:cNvPr>
          <p:cNvSpPr txBox="1"/>
          <p:nvPr/>
        </p:nvSpPr>
        <p:spPr>
          <a:xfrm>
            <a:off x="503237" y="4191000"/>
            <a:ext cx="8488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sentence transformers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5306-D706-759F-1ECC-72B3EF14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E04B73-7480-A81B-8BDA-99037F52D705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Introduction">
            <a:extLst>
              <a:ext uri="{FF2B5EF4-FFF2-40B4-BE49-F238E27FC236}">
                <a16:creationId xmlns:a16="http://schemas.microsoft.com/office/drawing/2014/main" id="{D8EB9809-3B9D-561B-73F9-53C6DA2FDC05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CF560-1F40-5B28-2A7B-755779301BBB}"/>
              </a:ext>
            </a:extLst>
          </p:cNvPr>
          <p:cNvSpPr txBox="1"/>
          <p:nvPr/>
        </p:nvSpPr>
        <p:spPr>
          <a:xfrm>
            <a:off x="503237" y="1304213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ChromDB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AEB07-C84C-074A-D910-A43F3B51700D}"/>
              </a:ext>
            </a:extLst>
          </p:cNvPr>
          <p:cNvSpPr txBox="1"/>
          <p:nvPr/>
        </p:nvSpPr>
        <p:spPr>
          <a:xfrm>
            <a:off x="503237" y="2932272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Integration: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APScheduler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Plyer</a:t>
            </a:r>
          </a:p>
        </p:txBody>
      </p:sp>
    </p:spTree>
    <p:extLst>
      <p:ext uri="{BB962C8B-B14F-4D97-AF65-F5344CB8AC3E}">
        <p14:creationId xmlns:p14="http://schemas.microsoft.com/office/powerpoint/2010/main" val="17019038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3996-2A34-A4C2-89AD-270A263B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2CF516-4464-5508-8556-4727DC5BF037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Introduction">
            <a:extLst>
              <a:ext uri="{FF2B5EF4-FFF2-40B4-BE49-F238E27FC236}">
                <a16:creationId xmlns:a16="http://schemas.microsoft.com/office/drawing/2014/main" id="{308FB098-8DFA-EF94-3F74-F9B397402FD1}"/>
              </a:ext>
            </a:extLst>
          </p:cNvPr>
          <p:cNvSpPr txBox="1"/>
          <p:nvPr/>
        </p:nvSpPr>
        <p:spPr>
          <a:xfrm>
            <a:off x="205377" y="76200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CE9CA-A08C-1276-8762-6E4069CF76E1}"/>
              </a:ext>
            </a:extLst>
          </p:cNvPr>
          <p:cNvSpPr txBox="1"/>
          <p:nvPr/>
        </p:nvSpPr>
        <p:spPr>
          <a:xfrm>
            <a:off x="205376" y="687910"/>
            <a:ext cx="93196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Query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a command via text.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vectorized and classified using custom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to identify intent.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6FCB8-509F-D895-FBB8-5CE5F1CFB473}"/>
              </a:ext>
            </a:extLst>
          </p:cNvPr>
          <p:cNvSpPr txBox="1"/>
          <p:nvPr/>
        </p:nvSpPr>
        <p:spPr>
          <a:xfrm>
            <a:off x="205375" y="2257570"/>
            <a:ext cx="93196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the Request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a command via text.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vectorized and classified using custom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to identify intent.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B5AC1-2594-4184-F08D-C2D138892F6B}"/>
              </a:ext>
            </a:extLst>
          </p:cNvPr>
          <p:cNvSpPr txBox="1"/>
          <p:nvPr/>
        </p:nvSpPr>
        <p:spPr>
          <a:xfrm>
            <a:off x="205374" y="3827230"/>
            <a:ext cx="93196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the Result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 Output: Returns a short confirmation message.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Output: Streams natural text responses in real time for smooth conversation flow.</a:t>
            </a:r>
          </a:p>
        </p:txBody>
      </p:sp>
    </p:spTree>
    <p:extLst>
      <p:ext uri="{BB962C8B-B14F-4D97-AF65-F5344CB8AC3E}">
        <p14:creationId xmlns:p14="http://schemas.microsoft.com/office/powerpoint/2010/main" val="423627239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56235" y="6287374"/>
            <a:ext cx="4399997" cy="26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743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7.1   Desktop UI</a:t>
            </a:r>
          </a:p>
        </p:txBody>
      </p:sp>
      <p:sp>
        <p:nvSpPr>
          <p:cNvPr id="8" name="Introduction">
            <a:extLst>
              <a:ext uri="{FF2B5EF4-FFF2-40B4-BE49-F238E27FC236}">
                <a16:creationId xmlns:a16="http://schemas.microsoft.com/office/drawing/2014/main" id="{7DF2933D-707E-527E-D5CB-6038AD898569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ADB745-3EC5-A881-3AF9-6C565E0FB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1359179"/>
            <a:ext cx="8168639" cy="45929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5E3B-FD5E-C811-8BA2-8F9D949F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2AB5B0-19F5-5D7F-236B-400B8F02BD58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0A1562-ADD6-6B22-A827-1925C7707F69}"/>
              </a:ext>
            </a:extLst>
          </p:cNvPr>
          <p:cNvSpPr txBox="1"/>
          <p:nvPr/>
        </p:nvSpPr>
        <p:spPr>
          <a:xfrm>
            <a:off x="2456235" y="6287374"/>
            <a:ext cx="4399997" cy="25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743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7.2   Chat</a:t>
            </a:r>
          </a:p>
        </p:txBody>
      </p:sp>
      <p:sp>
        <p:nvSpPr>
          <p:cNvPr id="8" name="Introduction">
            <a:extLst>
              <a:ext uri="{FF2B5EF4-FFF2-40B4-BE49-F238E27FC236}">
                <a16:creationId xmlns:a16="http://schemas.microsoft.com/office/drawing/2014/main" id="{A65B71C0-AC42-3B83-4AB7-CFCB5EE1EEA8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C608C8-D952-6FF3-658A-725523335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1359179"/>
            <a:ext cx="8168639" cy="4592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538F37-3B92-9EC5-D578-D1FABA833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31" y="1359179"/>
            <a:ext cx="8168639" cy="459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434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5D570-12B5-9122-58EC-5897EC3C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2B3406-A164-417E-D512-8B0D3AACE96D}"/>
              </a:ext>
            </a:extLst>
          </p:cNvPr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9F505B-7820-15B5-DAFF-D1FF33F083C3}"/>
              </a:ext>
            </a:extLst>
          </p:cNvPr>
          <p:cNvSpPr txBox="1"/>
          <p:nvPr/>
        </p:nvSpPr>
        <p:spPr>
          <a:xfrm>
            <a:off x="2456235" y="6287374"/>
            <a:ext cx="4399997" cy="25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743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7.3   Notification</a:t>
            </a:r>
          </a:p>
        </p:txBody>
      </p:sp>
      <p:sp>
        <p:nvSpPr>
          <p:cNvPr id="8" name="Introduction">
            <a:extLst>
              <a:ext uri="{FF2B5EF4-FFF2-40B4-BE49-F238E27FC236}">
                <a16:creationId xmlns:a16="http://schemas.microsoft.com/office/drawing/2014/main" id="{F95D5AFA-14CA-FC59-CABB-F109938E8BAD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F9587-AFB0-9457-6D0D-7D8A6AC87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48" y="2385743"/>
            <a:ext cx="7048503" cy="25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981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7" name="• Developed an automated system to extract, process, and visualize student exam results from PDFs and Excel files.…">
            <a:extLst>
              <a:ext uri="{FF2B5EF4-FFF2-40B4-BE49-F238E27FC236}">
                <a16:creationId xmlns:a16="http://schemas.microsoft.com/office/drawing/2014/main" id="{40D3AD87-0D8C-1B21-AD28-82BFFF85128D}"/>
              </a:ext>
            </a:extLst>
          </p:cNvPr>
          <p:cNvSpPr txBox="1"/>
          <p:nvPr/>
        </p:nvSpPr>
        <p:spPr>
          <a:xfrm>
            <a:off x="386463" y="1295448"/>
            <a:ext cx="9304524" cy="5395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 defTabSz="12700">
              <a:lnSpc>
                <a:spcPct val="135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Successfully developed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VeerAI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, a fully functional, offline-first AI desktop assistant with a modular and extensible architecture.</a:t>
            </a:r>
          </a:p>
          <a:p>
            <a:pPr marL="342900" indent="-342900" defTabSz="12700">
              <a:lnSpc>
                <a:spcPct val="135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Utilized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to build a custom intent classifier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to create a robust backend, ensuring a fast and responsive user experience.</a:t>
            </a:r>
          </a:p>
          <a:p>
            <a:pPr marL="342900" indent="-342900" defTabSz="12700">
              <a:lnSpc>
                <a:spcPct val="135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+mj-lt"/>
                <a:ea typeface="+mj-ea"/>
                <a:cs typeface="+mj-cs"/>
                <a:sym typeface="Times New Roman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Implemented a cutting-edge RAG pipeline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LangChain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and a local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Ollama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LLM, enabling the assistant to understand and answer questions from private user documents.</a:t>
            </a:r>
          </a:p>
          <a:p>
            <a:pPr marL="342900" indent="-342900" defTabSz="12700">
              <a:lnSpc>
                <a:spcPct val="135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+mj-lt"/>
                <a:ea typeface="+mj-ea"/>
                <a:cs typeface="+mj-cs"/>
                <a:sym typeface="Times New Roman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Designed and built a modern, intuitive desktop interface using Electron.js, featuring a streaming chat display and persistent conversation history.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Introduction">
            <a:extLst>
              <a:ext uri="{FF2B5EF4-FFF2-40B4-BE49-F238E27FC236}">
                <a16:creationId xmlns:a16="http://schemas.microsoft.com/office/drawing/2014/main" id="{9ADA2791-3242-53F5-A559-7425C39F8345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6759" y="1477539"/>
            <a:ext cx="8232441" cy="5014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[1] Sharma, A., &amp; Gupta, R. “Hybrid Model for Intelligent Personal Assistant.”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 Italics"/>
                <a:cs typeface="Times New Roman" panose="02020603050405020304" pitchFamily="18" charset="0"/>
                <a:sym typeface="Source Sans Pro Italics"/>
              </a:rPr>
              <a:t>International Journal of Computer Applications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Vol. 182, No. 12, pp. 25-32, 2023. </a:t>
            </a:r>
          </a:p>
          <a:p>
            <a:pPr algn="l">
              <a:lnSpc>
                <a:spcPts val="2325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algn="l">
              <a:lnSpc>
                <a:spcPts val="232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[2] Mycroft AI Team. “Mycroft: Open Source AI Assistant.”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 Italics"/>
                <a:cs typeface="Times New Roman" panose="02020603050405020304" pitchFamily="18" charset="0"/>
                <a:sym typeface="Source Sans Pro Italics"/>
              </a:rPr>
              <a:t>Mycroft Documentation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2022.</a:t>
            </a:r>
          </a:p>
          <a:p>
            <a:pPr algn="l">
              <a:lnSpc>
                <a:spcPts val="2325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algn="l">
              <a:lnSpc>
                <a:spcPts val="232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[3] Radford, A., Kim, J. W., Xu, T., et al. “Robust Speech Recognition via Large-Scale Weak Supervision (Whisper).”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 Italics"/>
                <a:cs typeface="Times New Roman" panose="02020603050405020304" pitchFamily="18" charset="0"/>
                <a:sym typeface="Source Sans Pro Italics"/>
              </a:rPr>
              <a:t>OpenAI Research Paper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2022. </a:t>
            </a:r>
          </a:p>
          <a:p>
            <a:pPr algn="l">
              <a:lnSpc>
                <a:spcPts val="2325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algn="l">
              <a:lnSpc>
                <a:spcPts val="232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[4]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Verspoor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J. “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Rhasspy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: An Offline, Open Source Voice Assistant.”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 Italics"/>
                <a:cs typeface="Times New Roman" panose="02020603050405020304" pitchFamily="18" charset="0"/>
                <a:sym typeface="Source Sans Pro Italics"/>
              </a:rPr>
              <a:t>GitHub Project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2021. </a:t>
            </a:r>
          </a:p>
          <a:p>
            <a:pPr algn="l">
              <a:lnSpc>
                <a:spcPts val="2325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algn="l">
              <a:lnSpc>
                <a:spcPts val="232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[5] Chen, L., Huang, Y., &amp; Li, X. “Privacy-Preserving Personal AI using On-Device Large Language Models.”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 Italics"/>
                <a:cs typeface="Times New Roman" panose="02020603050405020304" pitchFamily="18" charset="0"/>
                <a:sym typeface="Source Sans Pro Italics"/>
              </a:rPr>
              <a:t>IEEE Access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, Vol. 8, pp. 145392–145405, 2020. </a:t>
            </a:r>
          </a:p>
        </p:txBody>
      </p:sp>
      <p:sp>
        <p:nvSpPr>
          <p:cNvPr id="9" name="Introduction">
            <a:extLst>
              <a:ext uri="{FF2B5EF4-FFF2-40B4-BE49-F238E27FC236}">
                <a16:creationId xmlns:a16="http://schemas.microsoft.com/office/drawing/2014/main" id="{3D617023-2BAD-E8B2-8F6E-38509F80EAA5}"/>
              </a:ext>
            </a:extLst>
          </p:cNvPr>
          <p:cNvSpPr txBox="1"/>
          <p:nvPr/>
        </p:nvSpPr>
        <p:spPr>
          <a:xfrm>
            <a:off x="503237" y="670869"/>
            <a:ext cx="9070976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503237">
              <a:lnSpc>
                <a:spcPct val="93000"/>
              </a:lnSpc>
              <a:tabLst>
                <a:tab pos="444500" algn="l"/>
                <a:tab pos="889000" algn="l"/>
                <a:tab pos="1346200" algn="l"/>
                <a:tab pos="1790700" algn="l"/>
                <a:tab pos="2235200" algn="l"/>
                <a:tab pos="2692400" algn="l"/>
                <a:tab pos="3136900" algn="l"/>
                <a:tab pos="3594100" algn="l"/>
                <a:tab pos="4038600" algn="l"/>
                <a:tab pos="4483100" algn="l"/>
                <a:tab pos="4940300" algn="l"/>
                <a:tab pos="5384800" algn="l"/>
                <a:tab pos="5829300" algn="l"/>
                <a:tab pos="6286500" algn="l"/>
                <a:tab pos="6731000" algn="l"/>
                <a:tab pos="7188200" algn="l"/>
                <a:tab pos="7632700" algn="l"/>
                <a:tab pos="8077200" algn="l"/>
                <a:tab pos="8534400" algn="l"/>
                <a:tab pos="8978900" algn="l"/>
              </a:tabLst>
              <a:defRPr sz="3600" b="1">
                <a:effectLst>
                  <a:outerShdw blurRad="12700" dist="254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2" y="-21531"/>
            <a:ext cx="9807430" cy="7354419"/>
          </a:xfrm>
          <a:custGeom>
            <a:avLst/>
            <a:gdLst/>
            <a:ahLst/>
            <a:cxnLst/>
            <a:rect l="l" t="t" r="r" b="b"/>
            <a:pathLst>
              <a:path w="9807430" h="7354419">
                <a:moveTo>
                  <a:pt x="0" y="0"/>
                </a:moveTo>
                <a:lnTo>
                  <a:pt x="9807430" y="0"/>
                </a:lnTo>
                <a:lnTo>
                  <a:pt x="9807430" y="7354419"/>
                </a:lnTo>
                <a:lnTo>
                  <a:pt x="0" y="7354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0" b="-4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1327" y="3305051"/>
            <a:ext cx="8800079" cy="538811"/>
            <a:chOff x="0" y="0"/>
            <a:chExt cx="11733439" cy="7184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33439" cy="718415"/>
            </a:xfrm>
            <a:custGeom>
              <a:avLst/>
              <a:gdLst/>
              <a:ahLst/>
              <a:cxnLst/>
              <a:rect l="l" t="t" r="r" b="b"/>
              <a:pathLst>
                <a:path w="11733439" h="718415">
                  <a:moveTo>
                    <a:pt x="0" y="0"/>
                  </a:moveTo>
                  <a:lnTo>
                    <a:pt x="11733439" y="0"/>
                  </a:lnTo>
                  <a:lnTo>
                    <a:pt x="11733439" y="718415"/>
                  </a:lnTo>
                  <a:lnTo>
                    <a:pt x="0" y="71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1733439" cy="708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91"/>
                </a:lnSpc>
              </a:pPr>
              <a:r>
                <a:rPr lang="en-US" sz="348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You...!!</a:t>
              </a: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1113</Words>
  <Application>Microsoft Office PowerPoint</Application>
  <PresentationFormat>Custom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Times New Roman Bold</vt:lpstr>
      <vt:lpstr>Times New Roman MT</vt:lpstr>
      <vt:lpstr>Courier New</vt:lpstr>
      <vt:lpstr>Times New Roman</vt:lpstr>
      <vt:lpstr>Trebuchet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2B Review -1 Presentation_Template-1 (2).pptx (1).pptx</dc:title>
  <dc:creator>ABBAS</dc:creator>
  <cp:lastModifiedBy>Abbas Sangameshwari</cp:lastModifiedBy>
  <cp:revision>4</cp:revision>
  <dcterms:created xsi:type="dcterms:W3CDTF">2006-08-16T00:00:00Z</dcterms:created>
  <dcterms:modified xsi:type="dcterms:W3CDTF">2025-10-24T16:59:59Z</dcterms:modified>
  <dc:identifier>DAG0_YO08UM</dc:identifier>
</cp:coreProperties>
</file>